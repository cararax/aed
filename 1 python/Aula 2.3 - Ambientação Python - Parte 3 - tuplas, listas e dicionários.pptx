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709930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izi/5gn0F9mTZJV0IDEYDjQExJ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DA2BD5-1E80-4227-AD9E-DDBDC7DB8AC7}">
  <a:tblStyle styleId="{41DA2BD5-1E80-4227-AD9E-DDBDC7DB8AC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/>
          <p:nvPr>
            <p:ph idx="1" type="body"/>
          </p:nvPr>
        </p:nvSpPr>
        <p:spPr>
          <a:xfrm>
            <a:off x="709925" y="4861425"/>
            <a:ext cx="5679425" cy="4605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1183450" y="767575"/>
            <a:ext cx="4733100" cy="38379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17" name="Google Shape;17;p18"/>
          <p:cNvCxnSpPr/>
          <p:nvPr/>
        </p:nvCxnSpPr>
        <p:spPr>
          <a:xfrm>
            <a:off x="0" y="1556792"/>
            <a:ext cx="8388424" cy="0"/>
          </a:xfrm>
          <a:prstGeom prst="straightConnector1">
            <a:avLst/>
          </a:prstGeom>
          <a:noFill/>
          <a:ln cap="flat" cmpd="tri" w="762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C:\Leandro\Dropbox\DOCÊNCIA\Politécnico\SATI\2014\Arte\Novo\logoCurso.png" id="18" name="Google Shape;1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4970" y="127770"/>
            <a:ext cx="1969030" cy="1442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" name="Google Shape;6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Relationship Id="rId7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penseallen.github.io/PensePython2e/10-listas.htm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title"/>
          </p:nvPr>
        </p:nvSpPr>
        <p:spPr>
          <a:xfrm>
            <a:off x="683568" y="2492896"/>
            <a:ext cx="7115196" cy="23574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sz="3200"/>
              <a:t>Ambientação a linguagem Python</a:t>
            </a:r>
            <a:br>
              <a:rPr lang="pt-BR" sz="3200"/>
            </a:br>
            <a:r>
              <a:rPr lang="pt-BR"/>
              <a:t>Parte 3</a:t>
            </a:r>
            <a:endParaRPr sz="3200"/>
          </a:p>
        </p:txBody>
      </p:sp>
      <p:sp>
        <p:nvSpPr>
          <p:cNvPr id="87" name="Google Shape;87;p1"/>
          <p:cNvSpPr txBox="1"/>
          <p:nvPr>
            <p:ph idx="1" type="body"/>
          </p:nvPr>
        </p:nvSpPr>
        <p:spPr>
          <a:xfrm>
            <a:off x="539552" y="5214950"/>
            <a:ext cx="8229600" cy="1357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 sz="2000"/>
              <a:t>Professor Leandro O. Freitas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43608" y="260648"/>
            <a:ext cx="6134144" cy="1223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Análise de dados e extração de conhecimento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Coleção de dados: tuplas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107504" y="1600200"/>
            <a:ext cx="8856984" cy="4493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Sequência ordenada de zero ou mais referências a objetos;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Heterogêneas: suportam diferentes tipos de dados;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Dimensão dinâmica;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Seus dados são representados entre parênteses. Exemplo:</a:t>
            </a:r>
            <a:endParaRPr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	tupla = ( ) # cria uma tupla vazia</a:t>
            </a:r>
            <a:endParaRPr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	tupla2 = (10, 20, 30) # cria uma tupla com 3 valores inteiros</a:t>
            </a:r>
            <a:endParaRPr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	tupla3 = (‘Joao’, 20, 3.58) # cria tupla com uma string, um inteiro e um real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Coleção de dados: tuplas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457200" y="1600201"/>
            <a:ext cx="8229600" cy="964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São imutáveis: uma vez definidas as informações, estas não poderão ser alteradas.</a:t>
            </a:r>
            <a:endParaRPr/>
          </a:p>
        </p:txBody>
      </p:sp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592" y="2492896"/>
            <a:ext cx="3206127" cy="1008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592" y="3861048"/>
            <a:ext cx="7887058" cy="135483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/>
          <p:nvPr/>
        </p:nvSpPr>
        <p:spPr>
          <a:xfrm>
            <a:off x="814650" y="4771500"/>
            <a:ext cx="6583800" cy="444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Manipulação de tuplas</a:t>
            </a:r>
            <a:endParaRPr/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0" y="1600201"/>
            <a:ext cx="8964488" cy="892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Permite a utilização dos operadores de concatenação (+), fatiamento ([ ]) e teste de associação com </a:t>
            </a:r>
            <a:r>
              <a:rPr b="1" i="1" lang="pt-BR"/>
              <a:t>in</a:t>
            </a:r>
            <a:r>
              <a:rPr lang="pt-BR"/>
              <a:t> e </a:t>
            </a:r>
            <a:r>
              <a:rPr b="1" i="1" lang="pt-BR"/>
              <a:t>not in.</a:t>
            </a:r>
            <a:endParaRPr b="1" i="1"/>
          </a:p>
        </p:txBody>
      </p:sp>
      <p:grpSp>
        <p:nvGrpSpPr>
          <p:cNvPr id="110" name="Google Shape;110;p4"/>
          <p:cNvGrpSpPr/>
          <p:nvPr/>
        </p:nvGrpSpPr>
        <p:grpSpPr>
          <a:xfrm>
            <a:off x="211560" y="2492896"/>
            <a:ext cx="6849476" cy="2885811"/>
            <a:chOff x="211560" y="2492896"/>
            <a:chExt cx="6849476" cy="2885811"/>
          </a:xfrm>
        </p:grpSpPr>
        <p:pic>
          <p:nvPicPr>
            <p:cNvPr id="111" name="Google Shape;111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1560" y="2492896"/>
              <a:ext cx="6768752" cy="28858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4"/>
            <p:cNvSpPr txBox="1"/>
            <p:nvPr/>
          </p:nvSpPr>
          <p:spPr>
            <a:xfrm>
              <a:off x="232736" y="4780668"/>
              <a:ext cx="6828300" cy="384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# mostra os dados do índice 1 até o índice 4 (exclusive)</a:t>
              </a:r>
              <a:endParaRPr b="1" sz="13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113" name="Google Shape;11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336" y="5585271"/>
            <a:ext cx="6092856" cy="12727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" name="Google Shape;114;p4"/>
          <p:cNvGraphicFramePr/>
          <p:nvPr/>
        </p:nvGraphicFramePr>
        <p:xfrm>
          <a:off x="5796137" y="24644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{41DA2BD5-1E80-4227-AD9E-DDBDC7DB8AC7}</a:tableStyleId>
              </a:tblPr>
              <a:tblGrid>
                <a:gridCol w="845775"/>
                <a:gridCol w="845775"/>
                <a:gridCol w="654625"/>
                <a:gridCol w="750200"/>
              </a:tblGrid>
              <a:tr h="29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0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1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2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3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10.7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‘UFSM’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58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10.7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-4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-3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-2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-1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Manipulação de tuplas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0" y="1600200"/>
            <a:ext cx="8964488" cy="50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Mais um exemplo de fatiamento: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As tuplas possuem dois métodos nativos: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index</a:t>
            </a:r>
            <a:r>
              <a:rPr lang="pt-BR"/>
              <a:t>: retorna o índice da primeira ocorrência de um objeto;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count</a:t>
            </a:r>
            <a:r>
              <a:rPr lang="pt-BR"/>
              <a:t>: retorna o total de ocorrências de um objeto.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Pesquise sobre outras formas de manipulação de tuplas.</a:t>
            </a:r>
            <a:endParaRPr/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274" y="5085184"/>
            <a:ext cx="4035717" cy="831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9055" y="5085184"/>
            <a:ext cx="720080" cy="842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1520" y="1988840"/>
            <a:ext cx="6987959" cy="89668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 txBox="1"/>
          <p:nvPr/>
        </p:nvSpPr>
        <p:spPr>
          <a:xfrm>
            <a:off x="5917465" y="2348880"/>
            <a:ext cx="31065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tupla </a:t>
            </a:r>
            <a:r>
              <a:rPr b="1" i="1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cor2</a:t>
            </a:r>
            <a:r>
              <a:rPr b="0" i="0" lang="pt-BR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possui 3 objetos. O primeiro e último possuem duas sub-tuplas.</a:t>
            </a:r>
            <a:endParaRPr b="1" i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1520" y="3255153"/>
            <a:ext cx="5650793" cy="46616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6" name="Google Shape;126;p5"/>
          <p:cNvGraphicFramePr/>
          <p:nvPr/>
        </p:nvGraphicFramePr>
        <p:xfrm>
          <a:off x="6372201" y="50851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{41DA2BD5-1E80-4227-AD9E-DDBDC7DB8AC7}</a:tableStyleId>
              </a:tblPr>
              <a:tblGrid>
                <a:gridCol w="589275"/>
                <a:gridCol w="818200"/>
                <a:gridCol w="586000"/>
                <a:gridCol w="671550"/>
              </a:tblGrid>
              <a:tr h="327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cap="none" strike="noStrike"/>
                        <a:t>0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cap="none" strike="noStrike"/>
                        <a:t>1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cap="none" strike="noStrike"/>
                        <a:t>2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cap="none" strike="noStrike"/>
                        <a:t>3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cap="none" strike="noStrike"/>
                        <a:t>10.7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cap="none" strike="noStrike"/>
                        <a:t>‘UFSM’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cap="none" strike="noStrike"/>
                        <a:t>58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cap="none" strike="noStrike"/>
                        <a:t>10.7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3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cap="none" strike="noStrike"/>
                        <a:t>-4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cap="none" strike="noStrike"/>
                        <a:t>-3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cap="none" strike="noStrike"/>
                        <a:t>-2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600" u="none" cap="none" strike="noStrike"/>
                        <a:t>-1</a:t>
                      </a:r>
                      <a:endParaRPr sz="16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Coleção de dados: listas</a:t>
            </a:r>
            <a:endParaRPr/>
          </a:p>
        </p:txBody>
      </p:sp>
      <p:sp>
        <p:nvSpPr>
          <p:cNvPr id="132" name="Google Shape;132;p6"/>
          <p:cNvSpPr txBox="1"/>
          <p:nvPr>
            <p:ph idx="1" type="body"/>
          </p:nvPr>
        </p:nvSpPr>
        <p:spPr>
          <a:xfrm>
            <a:off x="457200" y="1600200"/>
            <a:ext cx="8686800" cy="4061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Sequência ordenada de zero ou mais referências a objetos;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lang="pt-BR">
                <a:solidFill>
                  <a:srgbClr val="FF0000"/>
                </a:solidFill>
              </a:rPr>
              <a:t>Mutáveis: é possível adicionar, remover ou alterar valores;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Heterogêneas: suportam diferentes tipos de dados;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Dimensão dinâmica;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Utilizada para representar vetores e matrizes;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Seus dados são representados entre colchetes. Exemplo:</a:t>
            </a:r>
            <a:endParaRPr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	Lista = [ ] # cria uma lista vazia</a:t>
            </a:r>
            <a:endParaRPr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	Lista2 = [10, 20, 30] # cria uma lista com 3 valores inteiros</a:t>
            </a:r>
            <a:endParaRPr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	Lista3 = [‘Joao’, 20, 3.58] # cria lista com uma string, um inteiro e um real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Coleção de dados: listas</a:t>
            </a:r>
            <a:endParaRPr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457200" y="1752600"/>
            <a:ext cx="8686800" cy="30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Acesso aos valores é feito através do índice, que inicia em zero.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Também é possível usar índice inverso.</a:t>
            </a:r>
            <a:endParaRPr/>
          </a:p>
          <a:p>
            <a:pPr indent="0" lvl="0" marL="74295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Matrizes: formada por duas ou mais listas aninhadas: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139" name="Google Shape;139;p7"/>
          <p:cNvGraphicFramePr/>
          <p:nvPr/>
        </p:nvGraphicFramePr>
        <p:xfrm>
          <a:off x="6372200" y="21614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{41DA2BD5-1E80-4227-AD9E-DDBDC7DB8AC7}</a:tableStyleId>
              </a:tblPr>
              <a:tblGrid>
                <a:gridCol w="730625"/>
                <a:gridCol w="565525"/>
                <a:gridCol w="648075"/>
              </a:tblGrid>
              <a:tr h="29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0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1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2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‘Joao’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20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3.58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-3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-2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 u="none" cap="none" strike="noStrike"/>
                        <a:t>-1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0" name="Google Shape;1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00" y="2583261"/>
            <a:ext cx="3594719" cy="888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7632" y="2653225"/>
            <a:ext cx="1584176" cy="920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9512" y="4561302"/>
            <a:ext cx="3384376" cy="120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07904" y="4627035"/>
            <a:ext cx="5105781" cy="525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9512" y="6321241"/>
            <a:ext cx="7185064" cy="327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Coleção de dados: listas</a:t>
            </a:r>
            <a:endParaRPr/>
          </a:p>
        </p:txBody>
      </p:sp>
      <p:sp>
        <p:nvSpPr>
          <p:cNvPr id="150" name="Google Shape;150;p8"/>
          <p:cNvSpPr txBox="1"/>
          <p:nvPr>
            <p:ph idx="1" type="body"/>
          </p:nvPr>
        </p:nvSpPr>
        <p:spPr>
          <a:xfrm>
            <a:off x="457200" y="1600200"/>
            <a:ext cx="8229600" cy="2548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Outro exemplo de matrizes: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Cria a matriz vazia;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Cria uma lista vazia que representa cada linha da matriz;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Insere os elementos de mesma linha na lista;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Insere a lista na matriz.</a:t>
            </a:r>
            <a:endParaRPr/>
          </a:p>
        </p:txBody>
      </p:sp>
      <p:pic>
        <p:nvPicPr>
          <p:cNvPr id="151" name="Google Shape;1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2" y="3523003"/>
            <a:ext cx="8229601" cy="2226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Coleção de dados: listas</a:t>
            </a:r>
            <a:endParaRPr/>
          </a:p>
        </p:txBody>
      </p:sp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107504" y="1600200"/>
            <a:ext cx="8928992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Métodos para manipulação de listas: L = ['Joao', 20, 3.58]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L.append(x): </a:t>
            </a:r>
            <a:r>
              <a:rPr lang="pt-BR"/>
              <a:t>insere o item x ao final da lista;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L.count(x): </a:t>
            </a:r>
            <a:r>
              <a:rPr lang="pt-BR"/>
              <a:t>retorna o total de ocorrências de x;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L.extend(m): </a:t>
            </a:r>
            <a:r>
              <a:rPr lang="pt-BR"/>
              <a:t>anexa todos os elementos de m ao final da lista. Mesmo que L += m;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L.index(x, início, fim)</a:t>
            </a: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pt-BR"/>
              <a:t>retorna a primeira ocorrência de x. Pode-se definir a fatia. Lança a exceção </a:t>
            </a:r>
            <a:r>
              <a:rPr b="1" lang="pt-BR"/>
              <a:t>ValueError</a:t>
            </a:r>
            <a:r>
              <a:rPr lang="pt-BR"/>
              <a:t> se o elemento ou a fatia são inválidos;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L.insert(i, x): </a:t>
            </a:r>
            <a:r>
              <a:rPr lang="pt-BR"/>
              <a:t>insere o item x na posição i;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L.pop(</a:t>
            </a:r>
            <a:r>
              <a:rPr b="1" i="1" lang="pt-BR" sz="1800"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pt-BR"/>
              <a:t>remove o item da posição i. Se não definir a posição, o último elemento será retirado;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L.remove(x): </a:t>
            </a:r>
            <a:r>
              <a:rPr lang="pt-BR"/>
              <a:t>remove a primeira ocorrência do item X. Lança a exceção </a:t>
            </a:r>
            <a:r>
              <a:rPr b="1" lang="pt-BR"/>
              <a:t>ValueError</a:t>
            </a:r>
            <a:r>
              <a:rPr lang="pt-BR"/>
              <a:t> se o elemento não existe;</a:t>
            </a:r>
            <a:endParaRPr b="1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L.reverse(): </a:t>
            </a:r>
            <a:r>
              <a:rPr lang="pt-BR"/>
              <a:t>inverte os elementos da lista;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Exercícios</a:t>
            </a:r>
            <a:endParaRPr/>
          </a:p>
        </p:txBody>
      </p:sp>
      <p:sp>
        <p:nvSpPr>
          <p:cNvPr id="163" name="Google Shape;16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Verifique qual a estrutura de dado mais indicada para resolução das questões: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 u="sng">
                <a:solidFill>
                  <a:schemeClr val="hlink"/>
                </a:solidFill>
                <a:hlinkClick r:id="rId3"/>
              </a:rPr>
              <a:t>PensePython 2ed</a:t>
            </a:r>
            <a:r>
              <a:rPr lang="pt-BR"/>
              <a:t>: item 10.15 - Exercícios: 1, 2, 5, 6, 7, 8, 11 e outros que achar interessante.</a:t>
            </a:r>
            <a:endParaRPr/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Utilizando alguns dos exercícios desenvolvidos, faça testes com os métodos listados no slide anterior.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Dicionários</a:t>
            </a:r>
            <a:endParaRPr/>
          </a:p>
        </p:txBody>
      </p:sp>
      <p:sp>
        <p:nvSpPr>
          <p:cNvPr id="169" name="Google Shape;169;p11"/>
          <p:cNvSpPr txBox="1"/>
          <p:nvPr>
            <p:ph idx="1" type="body"/>
          </p:nvPr>
        </p:nvSpPr>
        <p:spPr>
          <a:xfrm>
            <a:off x="107504" y="1600200"/>
            <a:ext cx="8928992" cy="50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147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Coleção </a:t>
            </a:r>
            <a:r>
              <a:rPr lang="pt-BR" u="sng"/>
              <a:t>desordenada</a:t>
            </a:r>
            <a:r>
              <a:rPr lang="pt-BR"/>
              <a:t>, do tipo </a:t>
            </a:r>
            <a:r>
              <a:rPr b="1" lang="pt-BR"/>
              <a:t>MAPEAMENTO</a:t>
            </a:r>
            <a:r>
              <a:rPr lang="pt-BR"/>
              <a:t>, composta de zero ou mais pares de chave-valor (“chave”:valor), onde:</a:t>
            </a:r>
            <a:endParaRPr/>
          </a:p>
          <a:p>
            <a:pPr indent="-2762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b="1" lang="pt-BR"/>
              <a:t>Chaves </a:t>
            </a:r>
            <a:r>
              <a:rPr lang="pt-BR"/>
              <a:t>são variáveis identificadoras;</a:t>
            </a:r>
            <a:endParaRPr/>
          </a:p>
          <a:p>
            <a:pPr indent="-2762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b="1" lang="pt-BR"/>
              <a:t>Valores </a:t>
            </a:r>
            <a:r>
              <a:rPr lang="pt-BR"/>
              <a:t>conteúdos apontados pelas chaves.</a:t>
            </a:r>
            <a:endParaRPr/>
          </a:p>
          <a:p>
            <a:pPr indent="-33147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Exemplos:</a:t>
            </a:r>
            <a:endParaRPr/>
          </a:p>
          <a:p>
            <a:pPr indent="-2762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Dict1 = { } #cria um dicionário vazio;</a:t>
            </a:r>
            <a:endParaRPr/>
          </a:p>
          <a:p>
            <a:pPr indent="-276225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pt-BR"/>
              <a:t>Dict2 = {“cod”:1010, “nome”: “Joao”, “idade”:30} # cria dicionário com 3 pares;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33147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Mutáveis, permitindo a adição ou remoção de itens;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3147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Não permite acesso aos pares via índice, uma vez que não são ordenados, logo:</a:t>
            </a:r>
            <a:endParaRPr/>
          </a:p>
          <a:p>
            <a:pPr indent="-277653" lvl="1" marL="742950" rtl="0" algn="l">
              <a:spcBef>
                <a:spcPts val="34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–"/>
            </a:pPr>
            <a:r>
              <a:rPr lang="pt-BR" sz="1700">
                <a:solidFill>
                  <a:srgbClr val="FF0000"/>
                </a:solidFill>
              </a:rPr>
              <a:t>{“cod”: 1010, “nome”: “Joao”, “idade”: 30} </a:t>
            </a:r>
            <a:r>
              <a:rPr lang="pt-BR" sz="1700"/>
              <a:t>equivale a </a:t>
            </a:r>
            <a:r>
              <a:rPr lang="pt-BR" sz="1700">
                <a:solidFill>
                  <a:srgbClr val="FF0000"/>
                </a:solidFill>
              </a:rPr>
              <a:t>{“nome”: “Joao”, “idade” : 30, “cod” : 1010}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Dicionários</a:t>
            </a:r>
            <a:endParaRPr/>
          </a:p>
        </p:txBody>
      </p:sp>
      <p:sp>
        <p:nvSpPr>
          <p:cNvPr id="175" name="Google Shape;175;p12"/>
          <p:cNvSpPr txBox="1"/>
          <p:nvPr>
            <p:ph idx="1" type="body"/>
          </p:nvPr>
        </p:nvSpPr>
        <p:spPr>
          <a:xfrm>
            <a:off x="457200" y="1600200"/>
            <a:ext cx="8229600" cy="50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Adição de novos itens: nomeDicionário [“chave”] = valor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Char char="–"/>
            </a:pPr>
            <a:r>
              <a:rPr b="1" lang="pt-BR" sz="1800">
                <a:latin typeface="Consolas"/>
                <a:ea typeface="Consolas"/>
                <a:cs typeface="Consolas"/>
                <a:sym typeface="Consolas"/>
              </a:rPr>
              <a:t>Dict2[“end”] = “Av. roraima”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Remoção de itens: del(nomeDicionário[“chave”]).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1" lang="pt-BR" sz="1800">
                <a:latin typeface="Consolas"/>
                <a:ea typeface="Consolas"/>
                <a:cs typeface="Consolas"/>
                <a:sym typeface="Consolas"/>
              </a:rPr>
              <a:t>del(Dict2[“cod”])</a:t>
            </a:r>
            <a:endParaRPr b="1"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Remove o item cuja chave é </a:t>
            </a:r>
            <a:r>
              <a:rPr b="1" i="1" lang="pt-BR"/>
              <a:t>cod</a:t>
            </a:r>
            <a:r>
              <a:rPr lang="pt-BR"/>
              <a:t> ou lança uma exceção </a:t>
            </a:r>
            <a:r>
              <a:rPr b="1" i="1" lang="pt-BR"/>
              <a:t>KeyError </a:t>
            </a:r>
            <a:r>
              <a:rPr lang="pt-BR"/>
              <a:t>caso ele não exista.</a:t>
            </a:r>
            <a:endParaRPr/>
          </a:p>
        </p:txBody>
      </p:sp>
      <p:pic>
        <p:nvPicPr>
          <p:cNvPr id="176" name="Google Shape;17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5104" y="2564904"/>
            <a:ext cx="5056688" cy="79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Dicionários</a:t>
            </a:r>
            <a:endParaRPr/>
          </a:p>
        </p:txBody>
      </p:sp>
      <p:sp>
        <p:nvSpPr>
          <p:cNvPr id="182" name="Google Shape;182;p13"/>
          <p:cNvSpPr txBox="1"/>
          <p:nvPr>
            <p:ph idx="1" type="body"/>
          </p:nvPr>
        </p:nvSpPr>
        <p:spPr>
          <a:xfrm>
            <a:off x="217114" y="1600200"/>
            <a:ext cx="881938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Como navegar entre os itens sem o uso de índice?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A iteração pode ser feita de três formas: através do item (par chave:valor); através da chave; através do valor.</a:t>
            </a:r>
            <a:endParaRPr/>
          </a:p>
          <a:p>
            <a:pPr indent="-304800" lvl="0" marL="5715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457200" lvl="0" marL="5715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Através do item:</a:t>
            </a:r>
            <a:endParaRPr/>
          </a:p>
        </p:txBody>
      </p:sp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6016" y="5733256"/>
            <a:ext cx="3631539" cy="432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114" y="3717032"/>
            <a:ext cx="5867054" cy="525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7114" y="5517232"/>
            <a:ext cx="3510750" cy="4737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13"/>
          <p:cNvGrpSpPr/>
          <p:nvPr/>
        </p:nvGrpSpPr>
        <p:grpSpPr>
          <a:xfrm>
            <a:off x="971600" y="4461395"/>
            <a:ext cx="2304255" cy="1271861"/>
            <a:chOff x="971600" y="4461395"/>
            <a:chExt cx="2304255" cy="1271861"/>
          </a:xfrm>
        </p:grpSpPr>
        <p:sp>
          <p:nvSpPr>
            <p:cNvPr id="187" name="Google Shape;187;p13"/>
            <p:cNvSpPr txBox="1"/>
            <p:nvPr/>
          </p:nvSpPr>
          <p:spPr>
            <a:xfrm>
              <a:off x="971600" y="4461395"/>
              <a:ext cx="230425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Função Python para par de chave-valor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1619672" y="5496372"/>
              <a:ext cx="648072" cy="236884"/>
            </a:xfrm>
            <a:prstGeom prst="rect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9" name="Google Shape;189;p13"/>
            <p:cNvCxnSpPr>
              <a:stCxn id="185" idx="0"/>
            </p:cNvCxnSpPr>
            <p:nvPr/>
          </p:nvCxnSpPr>
          <p:spPr>
            <a:xfrm rot="10800000">
              <a:off x="1972489" y="5107732"/>
              <a:ext cx="0" cy="409500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grpSp>
        <p:nvGrpSpPr>
          <p:cNvPr id="190" name="Google Shape;190;p13"/>
          <p:cNvGrpSpPr/>
          <p:nvPr/>
        </p:nvGrpSpPr>
        <p:grpSpPr>
          <a:xfrm>
            <a:off x="1426321" y="5991001"/>
            <a:ext cx="2497607" cy="687651"/>
            <a:chOff x="1426321" y="5991001"/>
            <a:chExt cx="2497607" cy="687651"/>
          </a:xfrm>
        </p:grpSpPr>
        <p:cxnSp>
          <p:nvCxnSpPr>
            <p:cNvPr id="191" name="Google Shape;191;p13"/>
            <p:cNvCxnSpPr/>
            <p:nvPr/>
          </p:nvCxnSpPr>
          <p:spPr>
            <a:xfrm>
              <a:off x="1835696" y="5991001"/>
              <a:ext cx="0" cy="390327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92" name="Google Shape;192;p13"/>
            <p:cNvCxnSpPr/>
            <p:nvPr/>
          </p:nvCxnSpPr>
          <p:spPr>
            <a:xfrm>
              <a:off x="3419872" y="5991001"/>
              <a:ext cx="0" cy="390327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93" name="Google Shape;193;p13"/>
            <p:cNvSpPr txBox="1"/>
            <p:nvPr/>
          </p:nvSpPr>
          <p:spPr>
            <a:xfrm>
              <a:off x="1426321" y="6309320"/>
              <a:ext cx="24976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Chave		     valor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13"/>
          <p:cNvGrpSpPr/>
          <p:nvPr/>
        </p:nvGrpSpPr>
        <p:grpSpPr>
          <a:xfrm>
            <a:off x="5109062" y="4461394"/>
            <a:ext cx="3240359" cy="1487886"/>
            <a:chOff x="5109062" y="4461394"/>
            <a:chExt cx="3240359" cy="1487886"/>
          </a:xfrm>
        </p:grpSpPr>
        <p:sp>
          <p:nvSpPr>
            <p:cNvPr id="195" name="Google Shape;195;p13"/>
            <p:cNvSpPr txBox="1"/>
            <p:nvPr/>
          </p:nvSpPr>
          <p:spPr>
            <a:xfrm>
              <a:off x="5109062" y="4461394"/>
              <a:ext cx="3240359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Cria-se duas variáveis, para iterar sobre as chaves e valores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5220072" y="5733256"/>
              <a:ext cx="1509169" cy="216024"/>
            </a:xfrm>
            <a:prstGeom prst="rect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7" name="Google Shape;197;p13"/>
            <p:cNvCxnSpPr>
              <a:stCxn id="196" idx="0"/>
            </p:cNvCxnSpPr>
            <p:nvPr/>
          </p:nvCxnSpPr>
          <p:spPr>
            <a:xfrm rot="10800000">
              <a:off x="5974657" y="5013256"/>
              <a:ext cx="0" cy="720000"/>
            </a:xfrm>
            <a:prstGeom prst="straightConnector1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Dicionários</a:t>
            </a:r>
            <a:endParaRPr/>
          </a:p>
        </p:txBody>
      </p:sp>
      <p:sp>
        <p:nvSpPr>
          <p:cNvPr id="203" name="Google Shape;203;p14"/>
          <p:cNvSpPr txBox="1"/>
          <p:nvPr>
            <p:ph idx="1" type="body"/>
          </p:nvPr>
        </p:nvSpPr>
        <p:spPr>
          <a:xfrm>
            <a:off x="457200" y="1600200"/>
            <a:ext cx="8229600" cy="514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Iteração através da chave: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Usando a função Python </a:t>
            </a:r>
            <a:r>
              <a:rPr b="1" lang="pt-BR"/>
              <a:t>keys( )</a:t>
            </a:r>
            <a:r>
              <a:rPr lang="pt-BR"/>
              <a:t> para manipulação de chaves: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pt-BR"/>
              <a:t>Diretamente pelo nome do dicionário: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Iteração através do valor: com a função </a:t>
            </a:r>
            <a:r>
              <a:rPr b="1" lang="pt-BR"/>
              <a:t>values( )</a:t>
            </a:r>
            <a:r>
              <a:rPr lang="pt-BR"/>
              <a:t> </a:t>
            </a:r>
            <a:endParaRPr/>
          </a:p>
        </p:txBody>
      </p:sp>
      <p:pic>
        <p:nvPicPr>
          <p:cNvPr id="204" name="Google Shape;2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7703" y="3908759"/>
            <a:ext cx="2267650" cy="529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7703" y="2492896"/>
            <a:ext cx="2972569" cy="534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7703" y="5661248"/>
            <a:ext cx="3220284" cy="534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Métodos para dicionários</a:t>
            </a:r>
            <a:endParaRPr/>
          </a:p>
        </p:txBody>
      </p:sp>
      <p:sp>
        <p:nvSpPr>
          <p:cNvPr id="212" name="Google Shape;212;p15"/>
          <p:cNvSpPr txBox="1"/>
          <p:nvPr>
            <p:ph idx="1" type="body"/>
          </p:nvPr>
        </p:nvSpPr>
        <p:spPr>
          <a:xfrm>
            <a:off x="107500" y="1600200"/>
            <a:ext cx="89379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D = {“cod”:1010, “nome”: “Joao”, “idade”:30}</a:t>
            </a:r>
            <a:endParaRPr/>
          </a:p>
          <a:p>
            <a:pPr indent="-360363" lvl="1" marL="631825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D.clear(): </a:t>
            </a:r>
            <a:r>
              <a:rPr lang="pt-BR"/>
              <a:t>remove todos os itens de D;</a:t>
            </a:r>
            <a:endParaRPr/>
          </a:p>
          <a:p>
            <a:pPr indent="-360363" lvl="1" marL="631825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D.copy(): </a:t>
            </a:r>
            <a:r>
              <a:rPr lang="pt-BR"/>
              <a:t>retorna uma cópia de D;</a:t>
            </a:r>
            <a:endParaRPr/>
          </a:p>
          <a:p>
            <a:pPr indent="-360363" lvl="1" marL="631825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D.fromkeys(LISTA, v): </a:t>
            </a:r>
            <a:r>
              <a:rPr lang="pt-BR"/>
              <a:t>retorna um dicionário em que as chaves são itens em sequência LISTA e os valores são None ou v, caso v seja informado;</a:t>
            </a:r>
            <a:endParaRPr/>
          </a:p>
          <a:p>
            <a:pPr indent="-360362" lvl="1" marL="631825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D.get(k, v): </a:t>
            </a:r>
            <a:r>
              <a:rPr lang="pt-BR"/>
              <a:t>retorna o valor da chave k. Caso k não esteja em D, retorna v;</a:t>
            </a:r>
            <a:endParaRPr/>
          </a:p>
          <a:p>
            <a:pPr indent="-360363" lvl="1" marL="631825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D.pop(k): </a:t>
            </a:r>
            <a:r>
              <a:rPr lang="pt-BR"/>
              <a:t>retorna o valor da chave k e o remove do dicionário;</a:t>
            </a:r>
            <a:endParaRPr/>
          </a:p>
          <a:p>
            <a:pPr indent="-360363" lvl="1" marL="631825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D.popitem(): </a:t>
            </a:r>
            <a:r>
              <a:rPr lang="pt-BR"/>
              <a:t>remove um item arbitrário de D;</a:t>
            </a:r>
            <a:endParaRPr/>
          </a:p>
          <a:p>
            <a:pPr indent="-360363" lvl="1" marL="631825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D.setdefault(k, v): </a:t>
            </a:r>
            <a:r>
              <a:rPr lang="pt-BR"/>
              <a:t>faz o mesmo que get(), com a diferença que caso a chave k não exista, ela é criada e o valor v associado a ela. Se v for omitido, o valor None é associado;</a:t>
            </a:r>
            <a:endParaRPr/>
          </a:p>
          <a:p>
            <a:pPr indent="-360363" lvl="1" marL="631825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b="1" lang="pt-BR" sz="1800">
                <a:latin typeface="Courier New"/>
                <a:ea typeface="Courier New"/>
                <a:cs typeface="Courier New"/>
                <a:sym typeface="Courier New"/>
              </a:rPr>
              <a:t>D.update(a): </a:t>
            </a:r>
            <a:r>
              <a:rPr lang="pt-BR"/>
              <a:t>adiciona cada item de </a:t>
            </a:r>
            <a:r>
              <a:rPr b="1" i="1" lang="pt-BR"/>
              <a:t>a </a:t>
            </a:r>
            <a:r>
              <a:rPr lang="pt-BR"/>
              <a:t>em D, caso ainda não exista. Se já existir, apenas substitui o valor referente àquela chave. (</a:t>
            </a:r>
            <a:r>
              <a:rPr b="1" i="1" lang="pt-BR"/>
              <a:t>a</a:t>
            </a:r>
            <a:r>
              <a:rPr lang="pt-BR"/>
              <a:t> pode ser um dicionário ou apenas um par de chave e valor).</a:t>
            </a:r>
            <a:endParaRPr b="1" i="1"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pt-BR"/>
              <a:t>Exercícios</a:t>
            </a:r>
            <a:endParaRPr/>
          </a:p>
        </p:txBody>
      </p:sp>
      <p:sp>
        <p:nvSpPr>
          <p:cNvPr id="218" name="Google Shape;218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Crie um dicionário e armazene nele os seus dados: nome, idade, telefone, endereço. Imprima todos os dados usando o padrão chave: valor.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Crie um programa que, usando dicionário, crie uma agenda de tamanho fornecido inicialmente pelo usuário. Leia os dados de todos os contatos do usuário de forma que a agenda fique completa e por fim imprima todos os contatos.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Utilizando um dos programas acima, faça testes com os métodos listados no slide anterior.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lo Mestrado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2011-08-18T12:44:31Z</dcterms:created>
  <dc:creator>Leandro</dc:creator>
</cp:coreProperties>
</file>