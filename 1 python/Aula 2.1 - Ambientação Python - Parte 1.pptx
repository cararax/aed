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709930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hTWepO+VDKDJYuZwd2VzG/D2nv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de886297be_0_1:notes"/>
          <p:cNvSpPr/>
          <p:nvPr>
            <p:ph idx="2" type="sldImg"/>
          </p:nvPr>
        </p:nvSpPr>
        <p:spPr>
          <a:xfrm>
            <a:off x="1183450" y="767575"/>
            <a:ext cx="47331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de886297be_0_1:notes"/>
          <p:cNvSpPr txBox="1"/>
          <p:nvPr>
            <p:ph idx="1" type="body"/>
          </p:nvPr>
        </p:nvSpPr>
        <p:spPr>
          <a:xfrm>
            <a:off x="709925" y="4861425"/>
            <a:ext cx="5679300" cy="46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de886297be_0_8:notes"/>
          <p:cNvSpPr/>
          <p:nvPr>
            <p:ph idx="2" type="sldImg"/>
          </p:nvPr>
        </p:nvSpPr>
        <p:spPr>
          <a:xfrm>
            <a:off x="1183450" y="767575"/>
            <a:ext cx="47331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de886297be_0_8:notes"/>
          <p:cNvSpPr txBox="1"/>
          <p:nvPr>
            <p:ph idx="1" type="body"/>
          </p:nvPr>
        </p:nvSpPr>
        <p:spPr>
          <a:xfrm>
            <a:off x="709925" y="4861425"/>
            <a:ext cx="5679300" cy="46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17" name="Google Shape;17;p12"/>
          <p:cNvCxnSpPr/>
          <p:nvPr/>
        </p:nvCxnSpPr>
        <p:spPr>
          <a:xfrm>
            <a:off x="0" y="1556792"/>
            <a:ext cx="8388424" cy="0"/>
          </a:xfrm>
          <a:prstGeom prst="straightConnector1">
            <a:avLst/>
          </a:prstGeom>
          <a:noFill/>
          <a:ln cap="flat" cmpd="tri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C:\Leandro\Dropbox\DOCÊNCIA\Politécnico\SATI\2014\Arte\Novo\logoCurso.png" id="18" name="Google Shape;1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74970" y="127770"/>
            <a:ext cx="1969030" cy="1442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0" name="Google Shape;6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hyperlink" Target="https://www.python.org/downloads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jetbrains.com/pt-br/pycharm/download/#section=windows" TargetMode="External"/><Relationship Id="rId4" Type="http://schemas.openxmlformats.org/officeDocument/2006/relationships/hyperlink" Target="https://www.jetbrains.com/help/pycharm/configuring-local-python-interpreters.html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title"/>
          </p:nvPr>
        </p:nvSpPr>
        <p:spPr>
          <a:xfrm>
            <a:off x="683568" y="2492896"/>
            <a:ext cx="7115196" cy="23574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 sz="3200"/>
              <a:t>Ambientação a</a:t>
            </a:r>
            <a:r>
              <a:rPr lang="pt-BR"/>
              <a:t>o </a:t>
            </a:r>
            <a:r>
              <a:rPr lang="pt-BR" sz="3200"/>
              <a:t>Python 3</a:t>
            </a:r>
            <a:endParaRPr sz="3200"/>
          </a:p>
        </p:txBody>
      </p:sp>
      <p:sp>
        <p:nvSpPr>
          <p:cNvPr id="87" name="Google Shape;87;p1"/>
          <p:cNvSpPr txBox="1"/>
          <p:nvPr>
            <p:ph idx="1" type="body"/>
          </p:nvPr>
        </p:nvSpPr>
        <p:spPr>
          <a:xfrm>
            <a:off x="539552" y="5214950"/>
            <a:ext cx="8229600" cy="1357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 sz="2000"/>
              <a:t>Professor Leandro O. Freitas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043608" y="260648"/>
            <a:ext cx="6134144" cy="1223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Análise de dados e extração de conhecimento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-180528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Características da linguagem Python</a:t>
            </a:r>
            <a:endParaRPr/>
          </a:p>
        </p:txBody>
      </p:sp>
      <p:sp>
        <p:nvSpPr>
          <p:cNvPr id="94" name="Google Shape;94;p2"/>
          <p:cNvSpPr txBox="1"/>
          <p:nvPr>
            <p:ph idx="1" type="body"/>
          </p:nvPr>
        </p:nvSpPr>
        <p:spPr>
          <a:xfrm>
            <a:off x="457200" y="1600200"/>
            <a:ext cx="8229600" cy="50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Linguagem interpretada;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Não existem delimitadores: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Validação feita pela </a:t>
            </a:r>
            <a:r>
              <a:rPr lang="pt-BR"/>
              <a:t>indentação!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Linguagem de tipagem forte e dinâmica;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Sem a necessidade de declaração de variáveis.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Quem usa: google, apple, microsoft, IBM, etc.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Aplicações: Web, desktop, jogos, etc.</a:t>
            </a:r>
            <a:endParaRPr/>
          </a:p>
        </p:txBody>
      </p:sp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3153" y="1700808"/>
            <a:ext cx="2701534" cy="1791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9792" y="1856432"/>
            <a:ext cx="5376753" cy="19326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" name="Google Shape;101;p3"/>
          <p:cNvCxnSpPr/>
          <p:nvPr/>
        </p:nvCxnSpPr>
        <p:spPr>
          <a:xfrm>
            <a:off x="2699792" y="1856432"/>
            <a:ext cx="0" cy="2076624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Indentação é tudo!!!</a:t>
            </a:r>
            <a:endParaRPr/>
          </a:p>
        </p:txBody>
      </p:sp>
      <p:sp>
        <p:nvSpPr>
          <p:cNvPr id="103" name="Google Shape;103;p3"/>
          <p:cNvSpPr txBox="1"/>
          <p:nvPr/>
        </p:nvSpPr>
        <p:spPr>
          <a:xfrm>
            <a:off x="179512" y="4149080"/>
            <a:ext cx="88569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 relação a sintaxe, o que pode-se observar neste </a:t>
            </a:r>
            <a:r>
              <a:rPr i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script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 delimitadores de bloco de código ou início de função principal, somente 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indentação;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Comentários: sinal de # para uma linha e três aspas simples ou duplas para mais linhas;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 sinal de ponto e vírgula;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Sinal de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dois pontos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ao final da declaração do laço (o mesmo vale para ifs, funções, classes, etc);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Laço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semelhante ao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foreach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algumas linguagens;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Função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range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permite definir um intervalo com início e fim;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Funções são identificadas pela palavra reservada def: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 NOME_FUNC (parâmetros):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" name="Google Shape;104;p3"/>
          <p:cNvGrpSpPr/>
          <p:nvPr/>
        </p:nvGrpSpPr>
        <p:grpSpPr>
          <a:xfrm>
            <a:off x="1043608" y="2132856"/>
            <a:ext cx="2051725" cy="1368153"/>
            <a:chOff x="360040" y="2636912"/>
            <a:chExt cx="2051725" cy="1368153"/>
          </a:xfrm>
        </p:grpSpPr>
        <p:cxnSp>
          <p:nvCxnSpPr>
            <p:cNvPr id="105" name="Google Shape;105;p3"/>
            <p:cNvCxnSpPr/>
            <p:nvPr/>
          </p:nvCxnSpPr>
          <p:spPr>
            <a:xfrm>
              <a:off x="1691680" y="4005064"/>
              <a:ext cx="720080" cy="0"/>
            </a:xfrm>
            <a:prstGeom prst="straightConnector1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106" name="Google Shape;106;p3"/>
            <p:cNvSpPr txBox="1"/>
            <p:nvPr/>
          </p:nvSpPr>
          <p:spPr>
            <a:xfrm>
              <a:off x="360040" y="3247769"/>
              <a:ext cx="1691680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Usar 4 espaços ou um TAB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7" name="Google Shape;107;p3"/>
            <p:cNvCxnSpPr/>
            <p:nvPr/>
          </p:nvCxnSpPr>
          <p:spPr>
            <a:xfrm rot="-5400000">
              <a:off x="1555926" y="2286869"/>
              <a:ext cx="505797" cy="1205882"/>
            </a:xfrm>
            <a:prstGeom prst="bentConnector2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Considerações sobre Python</a:t>
            </a:r>
            <a:endParaRPr/>
          </a:p>
        </p:txBody>
      </p:sp>
      <p:sp>
        <p:nvSpPr>
          <p:cNvPr id="113" name="Google Shape;113;p4"/>
          <p:cNvSpPr txBox="1"/>
          <p:nvPr>
            <p:ph idx="1" type="body"/>
          </p:nvPr>
        </p:nvSpPr>
        <p:spPr>
          <a:xfrm>
            <a:off x="457200" y="1600200"/>
            <a:ext cx="8229600" cy="514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5433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Em Python, tudo é objeto;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543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Coleção de arquivos com a extensão .py;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543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Podem ser agrupados em módulos (semelhante as bibliotecas do C ou classes do Java);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543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Possui coletor de lixo para liberar memória </a:t>
            </a:r>
            <a:r>
              <a:rPr lang="pt-BR"/>
              <a:t>automaticamente</a:t>
            </a:r>
            <a:r>
              <a:rPr lang="pt-BR"/>
              <a:t>;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543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Ferramentas de auxílio:</a:t>
            </a:r>
            <a:endParaRPr/>
          </a:p>
          <a:p>
            <a:pPr indent="-295275" lvl="1" marL="74295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b="1" lang="pt-BR"/>
              <a:t>help(algo)</a:t>
            </a:r>
            <a:r>
              <a:rPr lang="pt-BR"/>
              <a:t>, para ajuda;</a:t>
            </a:r>
            <a:endParaRPr/>
          </a:p>
          <a:p>
            <a:pPr indent="-295275" lvl="1" marL="74295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b="1" lang="pt-BR"/>
              <a:t>type(obj)</a:t>
            </a:r>
            <a:r>
              <a:rPr lang="pt-BR"/>
              <a:t>, para descobrir o tipo do objeto;</a:t>
            </a:r>
            <a:endParaRPr/>
          </a:p>
          <a:p>
            <a:pPr indent="-295275" lvl="1" marL="74295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b="1" lang="pt-BR"/>
              <a:t>dir(obj)</a:t>
            </a:r>
            <a:r>
              <a:rPr lang="pt-BR"/>
              <a:t>, para suas propriedades.</a:t>
            </a:r>
            <a:endParaRPr b="1"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543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u="sng"/>
              <a:t>Documentação</a:t>
            </a:r>
            <a:r>
              <a:rPr lang="pt-BR"/>
              <a:t> completa em: https://docs.python.org/3/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2555" y="3789041"/>
            <a:ext cx="5134564" cy="2764159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Instalação do Python 3</a:t>
            </a:r>
            <a:endParaRPr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457200" y="1600201"/>
            <a:ext cx="8229600" cy="2188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u="sng">
                <a:solidFill>
                  <a:schemeClr val="hlink"/>
                </a:solidFill>
                <a:hlinkClick r:id="rId4"/>
              </a:rPr>
              <a:t>https://www.python.org/downloads/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Selecionar opção referente ao sistema operacional;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Seguir os passos da instalação;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Por padrão, ele é instalado dentro de um perfil de usuário no Windows, não no diretório de Arquivos de Programas.</a:t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2100991" y="5509500"/>
            <a:ext cx="2067300" cy="4377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de886297be_0_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Ambiente de desenvolvimento</a:t>
            </a:r>
            <a:endParaRPr/>
          </a:p>
        </p:txBody>
      </p:sp>
      <p:sp>
        <p:nvSpPr>
          <p:cNvPr id="127" name="Google Shape;127;g1de886297be_0_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IDE PyCharm: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/>
              <a:t>Versão gratuita disponível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aqui</a:t>
            </a:r>
            <a:r>
              <a:rPr lang="pt-BR"/>
              <a:t>.</a:t>
            </a:r>
            <a:endParaRPr/>
          </a:p>
          <a:p>
            <a:pPr indent="0" lvl="0" marL="9144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5600" lvl="1" marL="914400" rtl="0" algn="l">
              <a:spcBef>
                <a:spcPts val="400"/>
              </a:spcBef>
              <a:spcAft>
                <a:spcPts val="0"/>
              </a:spcAft>
              <a:buSzPts val="2000"/>
              <a:buChar char="○"/>
            </a:pPr>
            <a:r>
              <a:rPr lang="pt-BR"/>
              <a:t>Configuração PyCharm disponível </a:t>
            </a:r>
            <a:r>
              <a:rPr lang="pt-BR" u="sng">
                <a:solidFill>
                  <a:schemeClr val="hlink"/>
                </a:solidFill>
                <a:hlinkClick r:id="rId4"/>
              </a:rPr>
              <a:t>aqui</a:t>
            </a:r>
            <a:r>
              <a:rPr lang="pt-BR"/>
              <a:t>: </a:t>
            </a:r>
            <a:endParaRPr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pt-BR"/>
              <a:t>Interpretador;</a:t>
            </a:r>
            <a:endParaRPr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pt-BR"/>
              <a:t>Virtual environment;</a:t>
            </a:r>
            <a:endParaRPr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pt-BR"/>
              <a:t>pip (para instalação de pacotes);</a:t>
            </a:r>
            <a:endParaRPr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pt-BR"/>
              <a:t>Outros itens que possam interessantes.</a:t>
            </a:r>
            <a:endParaRPr/>
          </a:p>
          <a:p>
            <a:pPr indent="0" lvl="0" marL="13716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g1de886297be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0551" y="1677150"/>
            <a:ext cx="4680074" cy="311022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1de886297be_0_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IDE PyCharm</a:t>
            </a:r>
            <a:endParaRPr/>
          </a:p>
        </p:txBody>
      </p:sp>
      <p:sp>
        <p:nvSpPr>
          <p:cNvPr id="134" name="Google Shape;134;g1de886297be_0_8"/>
          <p:cNvSpPr txBox="1"/>
          <p:nvPr/>
        </p:nvSpPr>
        <p:spPr>
          <a:xfrm>
            <a:off x="5888425" y="2648600"/>
            <a:ext cx="327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1de886297be_0_8"/>
          <p:cNvSpPr txBox="1"/>
          <p:nvPr/>
        </p:nvSpPr>
        <p:spPr>
          <a:xfrm>
            <a:off x="6036356" y="2542175"/>
            <a:ext cx="148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	    2	</a:t>
            </a:r>
            <a:endParaRPr b="1"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1de886297be_0_8"/>
          <p:cNvSpPr txBox="1"/>
          <p:nvPr/>
        </p:nvSpPr>
        <p:spPr>
          <a:xfrm>
            <a:off x="5560106" y="4187619"/>
            <a:ext cx="517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1de886297be_0_8"/>
          <p:cNvSpPr txBox="1"/>
          <p:nvPr/>
        </p:nvSpPr>
        <p:spPr>
          <a:xfrm>
            <a:off x="6205325" y="1857075"/>
            <a:ext cx="447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1de886297be_0_8"/>
          <p:cNvSpPr txBox="1"/>
          <p:nvPr/>
        </p:nvSpPr>
        <p:spPr>
          <a:xfrm>
            <a:off x="283775" y="1903675"/>
            <a:ext cx="49425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alibri"/>
              <a:buAutoNum type="arabicPeriod"/>
            </a:pPr>
            <a:r>
              <a:rPr lang="pt-BR" sz="2200">
                <a:latin typeface="Calibri"/>
                <a:ea typeface="Calibri"/>
                <a:cs typeface="Calibri"/>
                <a:sym typeface="Calibri"/>
              </a:rPr>
              <a:t>Lista de arquivos do projeto;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alibri"/>
              <a:buAutoNum type="arabicPeriod"/>
            </a:pPr>
            <a:r>
              <a:rPr lang="pt-BR" sz="2200">
                <a:latin typeface="Calibri"/>
                <a:ea typeface="Calibri"/>
                <a:cs typeface="Calibri"/>
                <a:sym typeface="Calibri"/>
              </a:rPr>
              <a:t>Editor de código;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alibri"/>
              <a:buAutoNum type="arabicPeriod"/>
            </a:pPr>
            <a:r>
              <a:rPr lang="pt-BR" sz="2200">
                <a:latin typeface="Calibri"/>
                <a:ea typeface="Calibri"/>
                <a:cs typeface="Calibri"/>
                <a:sym typeface="Calibri"/>
              </a:rPr>
              <a:t>Menu de execução de código;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alibri"/>
              <a:buAutoNum type="arabicPeriod"/>
            </a:pPr>
            <a:r>
              <a:rPr lang="pt-BR" sz="2200">
                <a:latin typeface="Calibri"/>
                <a:ea typeface="Calibri"/>
                <a:cs typeface="Calibri"/>
                <a:sym typeface="Calibri"/>
              </a:rPr>
              <a:t>Exibição da saída do programa.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Tipos de dados</a:t>
            </a:r>
            <a:endParaRPr/>
          </a:p>
        </p:txBody>
      </p:sp>
      <p:sp>
        <p:nvSpPr>
          <p:cNvPr id="144" name="Google Shape;144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Numéricos: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Inteiros: int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Reais: float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Lógicos: boolean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Strings: str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Conversão de dados: tipo(valor)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int (‘100’) # transforma a string ‘100’ em inteiro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str (50) # transforma o inteiro 50 em uma string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Expressões matemáticas</a:t>
            </a:r>
            <a:endParaRPr/>
          </a:p>
        </p:txBody>
      </p:sp>
      <p:sp>
        <p:nvSpPr>
          <p:cNvPr id="150" name="Google Shape;150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Sintaxe semelhante a outras linguagens de alto nível: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+, -, *, /, %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Potência: 5 ** 2 #resulta em 25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Divisão inteira: 5 // 2 #resulta em 2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Raiz quadrada: sqrt(4) #resulta em 2. Necessita da importação do módulo </a:t>
            </a:r>
            <a:r>
              <a:rPr b="1" lang="pt-BR"/>
              <a:t>math.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Exercícios de ambientação</a:t>
            </a:r>
            <a:endParaRPr/>
          </a:p>
        </p:txBody>
      </p:sp>
      <p:sp>
        <p:nvSpPr>
          <p:cNvPr id="156" name="Google Shape;156;p10"/>
          <p:cNvSpPr txBox="1"/>
          <p:nvPr>
            <p:ph idx="1" type="body"/>
          </p:nvPr>
        </p:nvSpPr>
        <p:spPr>
          <a:xfrm>
            <a:off x="457200" y="1600200"/>
            <a:ext cx="8229600" cy="49251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Exercício 0: Analisar o sumário da apostila disponível no moodle;</a:t>
            </a:r>
            <a:endParaRPr/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Exercício de ambientação 1: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Apresentar uma mensagem de texto na tela, para isso verifique a sintaxe utilizada até o momento;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Revise como salvar e executar um arquivo python.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Exercício de ambientação 2: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Encontrar a média aritmética de dois valores quaisquer e armazenar na variável </a:t>
            </a:r>
            <a:r>
              <a:rPr b="1" lang="pt-BR"/>
              <a:t>média</a:t>
            </a:r>
            <a:r>
              <a:rPr lang="pt-BR"/>
              <a:t>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Apresentar o resultado na tela.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pt-BR">
                <a:solidFill>
                  <a:srgbClr val="FF0000"/>
                </a:solidFill>
              </a:rPr>
              <a:t>Leia, interprete e corrija problemas que possam ter surgido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lo Mestrado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2011-08-18T12:44:31Z</dcterms:created>
  <dc:creator>Leandro</dc:creator>
</cp:coreProperties>
</file>