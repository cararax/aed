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hbUof4Kvz10P0rnhJZ94SNkNf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14E0AE-8B54-43C1-8505-C110E4DD4FBA}">
  <a:tblStyle styleId="{3414E0AE-8B54-43C1-8505-C110E4DD4F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3FF6AC9-10A6-45BC-A15A-AF525CF167F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e0c2540aad_1_2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e0c2540aad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1e0c2540aad_1_2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0c2540aad_1_3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0c2540aad_1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1e0c2540aad_1_3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df931621eb_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df931621e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1df931621eb_1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fd15ee7f9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1dfd15ee7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1dfd15ee7f9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df931621e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1df931621eb_1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dfd15ee7f9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1dfd15ee7f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1dfd15ee7f9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dfd15ee7f9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dfd15ee7f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1dfd15ee7f9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dfd15ee7f9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dfd15ee7f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1dfd15ee7f9_0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dfd15ee7f9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dfd15ee7f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1dfd15ee7f9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dfd15ee7f9_0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dfd15ee7f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1dfd15ee7f9_0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dfe15e45d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dfe15e45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1dfe15e45d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dfe15e45dc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dfe15e45d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1dfe15e45dc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dfe15e45dc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dfe15e45d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1dfe15e45dc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dfd15ee7f9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1dfd15ee7f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1dfd15ee7f9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e0b556ae4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1e0b556ae49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e0b556ae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1e0b556ae4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e0b556ae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1e0b556ae49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e0b556ae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1e0b556ae49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dfe15e45dc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dfe15e45d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1dfe15e45dc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1" name="Google Shape;21;p17"/>
          <p:cNvCxnSpPr/>
          <p:nvPr/>
        </p:nvCxnSpPr>
        <p:spPr>
          <a:xfrm>
            <a:off x="0" y="1556792"/>
            <a:ext cx="7956376" cy="0"/>
          </a:xfrm>
          <a:prstGeom prst="straightConnector1">
            <a:avLst/>
          </a:prstGeom>
          <a:noFill/>
          <a:ln cap="flat" cmpd="tri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Leandro\Dropbox\DOCÊNCIA\Politécnico\SATI\2014\Arte\Novo\logoCurso.png" id="22" name="Google Shape;2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4970" y="127770"/>
            <a:ext cx="1969030" cy="144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9" name="Google Shape;29;p18"/>
          <p:cNvCxnSpPr/>
          <p:nvPr/>
        </p:nvCxnSpPr>
        <p:spPr>
          <a:xfrm>
            <a:off x="0" y="1556792"/>
            <a:ext cx="7956376" cy="0"/>
          </a:xfrm>
          <a:prstGeom prst="straightConnector1">
            <a:avLst/>
          </a:prstGeom>
          <a:noFill/>
          <a:ln cap="flat" cmpd="tri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Leandro\Dropbox\DOCÊNCIA\Politécnico\SATI\2014\Arte\Novo\logoCurso.png" id="30" name="Google Shape;3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4970" y="127770"/>
            <a:ext cx="1969030" cy="144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regexpal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634325" y="202325"/>
            <a:ext cx="6762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Análise de dados e extração de conhecimento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357158" y="5786454"/>
            <a:ext cx="3271838" cy="757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pt-BR" sz="1800"/>
              <a:t>Prof. Leandro Freitas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pt-BR" sz="1800"/>
              <a:t>leandro@politecnico.ufsm.br</a:t>
            </a:r>
            <a:endParaRPr sz="1800"/>
          </a:p>
        </p:txBody>
      </p:sp>
      <p:sp>
        <p:nvSpPr>
          <p:cNvPr id="95" name="Google Shape;95;p1"/>
          <p:cNvSpPr txBox="1"/>
          <p:nvPr/>
        </p:nvSpPr>
        <p:spPr>
          <a:xfrm>
            <a:off x="835968" y="27893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Expressões regulares (</a:t>
            </a: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Regex</a:t>
            </a: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e0c2540aad_1_2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Expressões regulares</a:t>
            </a:r>
            <a:endParaRPr/>
          </a:p>
        </p:txBody>
      </p:sp>
      <p:sp>
        <p:nvSpPr>
          <p:cNvPr id="102" name="Google Shape;102;g1e0c2540aad_1_283"/>
          <p:cNvSpPr txBox="1"/>
          <p:nvPr>
            <p:ph idx="1" type="body"/>
          </p:nvPr>
        </p:nvSpPr>
        <p:spPr>
          <a:xfrm>
            <a:off x="457200" y="1600200"/>
            <a:ext cx="8229600" cy="141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i="1" lang="pt-BR" sz="2600"/>
              <a:t>“Suponha que você tem um problema e decida resolvê-lo usando expressões regulares. Bem, agora você tem dois problemas.”</a:t>
            </a:r>
            <a:r>
              <a:rPr lang="pt-BR" sz="2600"/>
              <a:t> =(</a:t>
            </a:r>
            <a:endParaRPr sz="2600"/>
          </a:p>
        </p:txBody>
      </p:sp>
      <p:sp>
        <p:nvSpPr>
          <p:cNvPr id="103" name="Google Shape;103;g1e0c2540aad_1_283"/>
          <p:cNvSpPr txBox="1"/>
          <p:nvPr/>
        </p:nvSpPr>
        <p:spPr>
          <a:xfrm>
            <a:off x="708925" y="3076025"/>
            <a:ext cx="82296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●"/>
            </a:pPr>
            <a:r>
              <a:rPr lang="pt-BR" sz="2300">
                <a:latin typeface="Calibri"/>
                <a:ea typeface="Calibri"/>
                <a:cs typeface="Calibri"/>
                <a:sym typeface="Calibri"/>
              </a:rPr>
              <a:t>São usadas para identificar strings regulares, ou seja, strings geradas por uma série de regras;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●"/>
            </a:pPr>
            <a:r>
              <a:rPr lang="pt-BR" sz="2300">
                <a:latin typeface="Calibri"/>
                <a:ea typeface="Calibri"/>
                <a:cs typeface="Calibri"/>
                <a:sym typeface="Calibri"/>
              </a:rPr>
              <a:t>Definem se uma string será aceita e devolvida para ser utilizada OU se será descartada por não estar corretamente estruturada;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●"/>
            </a:pPr>
            <a:r>
              <a:rPr lang="pt-BR" sz="2300">
                <a:latin typeface="Calibri"/>
                <a:ea typeface="Calibri"/>
                <a:cs typeface="Calibri"/>
                <a:sym typeface="Calibri"/>
              </a:rPr>
              <a:t>Exemplo: analisar de forma rápida grandes documentos em busca de termos específicos como endereços de email ou telefone.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e0c2540aad_1_3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Expressões regulares</a:t>
            </a:r>
            <a:endParaRPr/>
          </a:p>
        </p:txBody>
      </p:sp>
      <p:sp>
        <p:nvSpPr>
          <p:cNvPr id="110" name="Google Shape;110;g1e0c2540aad_1_369"/>
          <p:cNvSpPr txBox="1"/>
          <p:nvPr>
            <p:ph idx="1" type="body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Exemplos de regras: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Escrever a letra </a:t>
            </a:r>
            <a:r>
              <a:rPr i="1" lang="pt-BR"/>
              <a:t>a</a:t>
            </a:r>
            <a:r>
              <a:rPr lang="pt-BR"/>
              <a:t> pelo menos uma vez;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Concatenar com anterior, 5 vezes a letra </a:t>
            </a:r>
            <a:r>
              <a:rPr i="1" lang="pt-BR"/>
              <a:t>b;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Concatenar com anteriores um número par de vezes da letra </a:t>
            </a:r>
            <a:r>
              <a:rPr i="1" lang="pt-BR"/>
              <a:t>c</a:t>
            </a:r>
            <a:r>
              <a:rPr lang="pt-BR"/>
              <a:t>;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Por fim, inserir no final, OU a letra </a:t>
            </a:r>
            <a:r>
              <a:rPr i="1" lang="pt-BR"/>
              <a:t>d </a:t>
            </a:r>
            <a:r>
              <a:rPr lang="pt-BR"/>
              <a:t>OU a letra </a:t>
            </a:r>
            <a:r>
              <a:rPr i="1" lang="pt-BR"/>
              <a:t>e</a:t>
            </a:r>
            <a:r>
              <a:rPr lang="pt-BR"/>
              <a:t>.</a:t>
            </a:r>
            <a:endParaRPr/>
          </a:p>
        </p:txBody>
      </p:sp>
      <p:sp>
        <p:nvSpPr>
          <p:cNvPr id="111" name="Google Shape;111;g1e0c2540aad_1_369"/>
          <p:cNvSpPr txBox="1"/>
          <p:nvPr/>
        </p:nvSpPr>
        <p:spPr>
          <a:xfrm>
            <a:off x="889175" y="648850"/>
            <a:ext cx="69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e0c2540aad_1_369"/>
          <p:cNvSpPr txBox="1"/>
          <p:nvPr/>
        </p:nvSpPr>
        <p:spPr>
          <a:xfrm>
            <a:off x="452200" y="3531232"/>
            <a:ext cx="692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válida: aabbbbbccccd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e0c2540aad_1_369"/>
          <p:cNvSpPr txBox="1"/>
          <p:nvPr/>
        </p:nvSpPr>
        <p:spPr>
          <a:xfrm>
            <a:off x="525932" y="4449100"/>
            <a:ext cx="692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Regex para validação: “a+bbbbb(cc)*(d|e)”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e0c2540aad_1_369"/>
          <p:cNvSpPr txBox="1"/>
          <p:nvPr/>
        </p:nvSpPr>
        <p:spPr>
          <a:xfrm>
            <a:off x="532213" y="5516884"/>
            <a:ext cx="692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http://regexpal.com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testar suas regexes.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O que é uma Regex: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Sequência de caracteres com funções especiais que formam uma expressão. Essa expressão é interpretada como uma regra que será usada para </a:t>
            </a:r>
            <a:r>
              <a:rPr b="1" lang="pt-BR"/>
              <a:t>validar uma entrada de dados </a:t>
            </a:r>
            <a:r>
              <a:rPr lang="pt-BR"/>
              <a:t>qualquer caso obedeça exatamente a todas as suas condições;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Método formal de validação através da especificação de um padrão;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Logo, regex é um padrão usado para validação de strings.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Para que serve uma Regex: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Buscar um texto completo a partir de um trecho parcial;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Procurar substrings em posições específicas como no começo ou no fim de uma linha ou palavra;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Utiliza pequenas ferramentas para obter determinada sequência de caracteres de um texto.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Exemplos: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data e horário;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número IP;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Dados de usuário: nome, e-mail, usuário, senha, RG, CPF, cartão de crédito, etc;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dados que estão entre &lt;tags&gt;&lt;/tags&gt;.</a:t>
            </a:r>
            <a:endParaRPr/>
          </a:p>
        </p:txBody>
      </p:sp>
      <p:sp>
        <p:nvSpPr>
          <p:cNvPr id="128" name="Google Shape;128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Lista de usuários que acessaram o sistema em determinado dia:</a:t>
            </a:r>
            <a:endParaRPr sz="22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</a:t>
            </a:r>
            <a:r>
              <a:rPr lang="pt-BR" sz="1600"/>
              <a:t>08:39 ricardo</a:t>
            </a:r>
            <a:endParaRPr sz="1600"/>
          </a:p>
          <a:p>
            <a:pPr indent="0" lvl="2" marL="914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14:59 gabriel</a:t>
            </a:r>
            <a:endParaRPr sz="1600"/>
          </a:p>
          <a:p>
            <a:pPr indent="0" lvl="2" marL="914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16:27 carla</a:t>
            </a:r>
            <a:endParaRPr sz="1600"/>
          </a:p>
          <a:p>
            <a:pPr indent="0" lvl="2" marL="914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19:38 maria</a:t>
            </a:r>
            <a:endParaRPr sz="1600"/>
          </a:p>
          <a:p>
            <a:pPr indent="0" lvl="2" marL="914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22:23 ana</a:t>
            </a:r>
            <a:endParaRPr/>
          </a:p>
          <a:p>
            <a:pPr indent="-330200" lvl="2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Como descobrir aqueles que acessaram entre as 12h e 18h?</a:t>
            </a:r>
            <a:endParaRPr sz="1800"/>
          </a:p>
          <a:p>
            <a:pPr indent="-342900" lvl="3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 sz="2400"/>
              <a:t>regex: “</a:t>
            </a:r>
            <a:r>
              <a:rPr lang="pt-BR" sz="2400"/>
              <a:t>^ 1 [2 - 8]”</a:t>
            </a:r>
            <a:endParaRPr/>
          </a:p>
          <a:p>
            <a:pPr indent="-190500" lvl="3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200"/>
          </a:p>
          <a:p>
            <a:pPr indent="-330200" lvl="2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Dado um array com os valores: “maria”, “ricardo”, “ana”, “carla”; podemos criar uma Regex para buscar o padrão “ri”. O retorno seria: “maria”, “ricardo”.</a:t>
            </a:r>
            <a:endParaRPr sz="1800"/>
          </a:p>
          <a:p>
            <a:pPr indent="-190500" lvl="2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34" name="Google Shape;1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Exemplos iniciais</a:t>
            </a:r>
            <a:endParaRPr/>
          </a:p>
        </p:txBody>
      </p:sp>
      <p:sp>
        <p:nvSpPr>
          <p:cNvPr id="135" name="Google Shape;135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1385250" y="2347934"/>
            <a:ext cx="1239000" cy="419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</a:t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457200" y="1600200"/>
            <a:ext cx="8229600" cy="48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Símbolos utilizados em determinada ordem para definir uma regra em uma Expressão Regular;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Metacaracteres padrão: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Cada símbolo possui uma função que pode variar de acordo com determinado contexto;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A sintaxe pode variar de acordo com o programa utilizado!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Divididos em grupos: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Representantes;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Quantificadores;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Âncoras;</a:t>
            </a:r>
            <a:endParaRPr/>
          </a:p>
          <a:p>
            <a:pPr indent="-285750" lvl="1" marL="742950" rtl="0" algn="l">
              <a:spcBef>
                <a:spcPts val="370"/>
              </a:spcBef>
              <a:spcAft>
                <a:spcPts val="0"/>
              </a:spcAft>
              <a:buSzPct val="100000"/>
              <a:buChar char="–"/>
            </a:pPr>
            <a:r>
              <a:rPr lang="pt-BR"/>
              <a:t>Outros não categorizados.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705575" y="2452600"/>
            <a:ext cx="4491900" cy="5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   ?   *  +  ^  $  |  [  ]  {  }  (  )  \</a:t>
            </a:r>
            <a:endParaRPr/>
          </a:p>
        </p:txBody>
      </p:sp>
      <p:sp>
        <p:nvSpPr>
          <p:cNvPr id="144" name="Google Shape;144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df931621eb_1_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Metacaracteres</a:t>
            </a:r>
            <a:endParaRPr/>
          </a:p>
        </p:txBody>
      </p:sp>
      <p:sp>
        <p:nvSpPr>
          <p:cNvPr id="151" name="Google Shape;151;g1df931621eb_1_1"/>
          <p:cNvSpPr txBox="1"/>
          <p:nvPr>
            <p:ph idx="1" type="body"/>
          </p:nvPr>
        </p:nvSpPr>
        <p:spPr>
          <a:xfrm>
            <a:off x="457200" y="1600200"/>
            <a:ext cx="8229600" cy="57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pt-BR"/>
              <a:t>Lista de símbolos para consulta:</a:t>
            </a:r>
            <a:endParaRPr/>
          </a:p>
        </p:txBody>
      </p:sp>
      <p:graphicFrame>
        <p:nvGraphicFramePr>
          <p:cNvPr id="152" name="Google Shape;152;g1df931621eb_1_1"/>
          <p:cNvGraphicFramePr/>
          <p:nvPr/>
        </p:nvGraphicFramePr>
        <p:xfrm>
          <a:off x="4741825" y="240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{3414E0AE-8B54-43C1-8505-C110E4DD4FBA}</a:tableStyleId>
              </a:tblPr>
              <a:tblGrid>
                <a:gridCol w="1633425"/>
                <a:gridCol w="178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Metacaractere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Nome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^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Circunflexo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$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Cifrão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\b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Borda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\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Escape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|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Ou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( 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Grupo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\1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Retrovisor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3" name="Google Shape;153;g1df931621eb_1_1"/>
          <p:cNvGraphicFramePr/>
          <p:nvPr/>
        </p:nvGraphicFramePr>
        <p:xfrm>
          <a:off x="627025" y="240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{3414E0AE-8B54-43C1-8505-C110E4DD4FBA}</a:tableStyleId>
              </a:tblPr>
              <a:tblGrid>
                <a:gridCol w="1633425"/>
                <a:gridCol w="178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Metacaractere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Nome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.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Ponto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[ ]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Lista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[^]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Lista negada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?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Opcional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*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Asterisco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Adiç</a:t>
                      </a:r>
                      <a:r>
                        <a:rPr lang="pt-BR"/>
                        <a:t>ão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{ }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Chaves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4" name="Google Shape;154;g1df931621eb_1_1"/>
          <p:cNvSpPr txBox="1"/>
          <p:nvPr/>
        </p:nvSpPr>
        <p:spPr>
          <a:xfrm>
            <a:off x="106650" y="5799475"/>
            <a:ext cx="8504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ATENÇÃO</a:t>
            </a: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 caracteres curingas usados em terminais de linhas de comando possuem significados diferentes: *.txt, relatorio.{txt, doc}, foto-??.jpeg, etc, NÃO são expressões regulares. Não confunda!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df931621eb_1_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dfd15ee7f9_0_6"/>
          <p:cNvSpPr txBox="1"/>
          <p:nvPr>
            <p:ph type="ctrTitle"/>
          </p:nvPr>
        </p:nvSpPr>
        <p:spPr>
          <a:xfrm>
            <a:off x="634325" y="202325"/>
            <a:ext cx="6762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Análise de dados e extração de conhecimento</a:t>
            </a:r>
            <a:endParaRPr/>
          </a:p>
        </p:txBody>
      </p:sp>
      <p:sp>
        <p:nvSpPr>
          <p:cNvPr id="162" name="Google Shape;162;g1dfd15ee7f9_0_6"/>
          <p:cNvSpPr txBox="1"/>
          <p:nvPr>
            <p:ph idx="1" type="subTitle"/>
          </p:nvPr>
        </p:nvSpPr>
        <p:spPr>
          <a:xfrm>
            <a:off x="357158" y="5786454"/>
            <a:ext cx="32718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pt-BR" sz="1800"/>
              <a:t>Prof. Leandro Freitas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pt-BR" sz="1800"/>
              <a:t>leandro@politecnico.ufsm.br</a:t>
            </a:r>
            <a:endParaRPr sz="1800"/>
          </a:p>
        </p:txBody>
      </p:sp>
      <p:sp>
        <p:nvSpPr>
          <p:cNvPr id="163" name="Google Shape;163;g1dfd15ee7f9_0_6"/>
          <p:cNvSpPr txBox="1"/>
          <p:nvPr/>
        </p:nvSpPr>
        <p:spPr>
          <a:xfrm>
            <a:off x="835968" y="2789312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Metacaracteres representantes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representantes</a:t>
            </a:r>
            <a:endParaRPr/>
          </a:p>
        </p:txBody>
      </p:sp>
      <p:sp>
        <p:nvSpPr>
          <p:cNvPr id="169" name="Google Shape;169;p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Tem a função de representar um ou mais caracteres.</a:t>
            </a:r>
            <a:endParaRPr/>
          </a:p>
        </p:txBody>
      </p:sp>
      <p:graphicFrame>
        <p:nvGraphicFramePr>
          <p:cNvPr id="170" name="Google Shape;170;p7"/>
          <p:cNvGraphicFramePr/>
          <p:nvPr/>
        </p:nvGraphicFramePr>
        <p:xfrm>
          <a:off x="1331640" y="22048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{53FF6AC9-10A6-45BC-A15A-AF525CF167F6}</a:tableStyleId>
              </a:tblPr>
              <a:tblGrid>
                <a:gridCol w="765500"/>
                <a:gridCol w="1384550"/>
                <a:gridCol w="3007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Meta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Mnemônico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Função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Ponto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Um </a:t>
                      </a:r>
                      <a:r>
                        <a:rPr lang="pt-BR" sz="1800" u="none" cap="none" strike="noStrike"/>
                        <a:t>caractere qualquer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[ ... ]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Lista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Lista de caracteres permitidos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[^ ... ]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Lista negada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Lista de </a:t>
                      </a:r>
                      <a:r>
                        <a:rPr lang="pt-BR" sz="1800"/>
                        <a:t>caracteres</a:t>
                      </a:r>
                      <a:r>
                        <a:rPr lang="pt-BR" sz="1800" u="none" cap="none" strike="noStrike"/>
                        <a:t> negados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1" name="Google Shape;171;p7"/>
          <p:cNvSpPr txBox="1"/>
          <p:nvPr/>
        </p:nvSpPr>
        <p:spPr>
          <a:xfrm>
            <a:off x="323528" y="4509120"/>
            <a:ext cx="482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20175" y="4335825"/>
            <a:ext cx="7283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Metacaracteres representantes sempre casam/combinam com a posição de </a:t>
            </a:r>
            <a:r>
              <a:rPr lang="pt-BR" sz="22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um único caractere</a:t>
            </a:r>
            <a:r>
              <a:rPr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 Nunca mais de um.</a:t>
            </a:r>
            <a:endParaRPr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df931621eb_1_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representantes</a:t>
            </a:r>
            <a:endParaRPr/>
          </a:p>
        </p:txBody>
      </p:sp>
      <p:sp>
        <p:nvSpPr>
          <p:cNvPr id="179" name="Google Shape;179;g1df931621eb_1_14"/>
          <p:cNvSpPr txBox="1"/>
          <p:nvPr>
            <p:ph idx="1" type="body"/>
          </p:nvPr>
        </p:nvSpPr>
        <p:spPr>
          <a:xfrm>
            <a:off x="353350" y="2720750"/>
            <a:ext cx="8724000" cy="3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Combina (</a:t>
            </a:r>
            <a:r>
              <a:rPr i="1" lang="pt-BR"/>
              <a:t>match</a:t>
            </a:r>
            <a:r>
              <a:rPr lang="pt-BR"/>
              <a:t>) com qualquer coisa. Exemplo:</a:t>
            </a:r>
            <a:endParaRPr/>
          </a:p>
          <a:p>
            <a:pPr indent="-3238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pt-BR" sz="2000"/>
              <a:t>Regex: “</a:t>
            </a:r>
            <a:r>
              <a:rPr lang="pt-BR" sz="2000"/>
              <a:t>e.tendido”</a:t>
            </a:r>
            <a:endParaRPr sz="2000"/>
          </a:p>
          <a:p>
            <a:pPr indent="-266700" lvl="2" marL="1143000" rtl="0" algn="l"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pt-BR" sz="2000"/>
              <a:t>Permite: e</a:t>
            </a:r>
            <a:r>
              <a:rPr lang="pt-BR" sz="2000">
                <a:solidFill>
                  <a:srgbClr val="FF0000"/>
                </a:solidFill>
              </a:rPr>
              <a:t>s</a:t>
            </a:r>
            <a:r>
              <a:rPr lang="pt-BR" sz="2000"/>
              <a:t>tendido, e</a:t>
            </a:r>
            <a:r>
              <a:rPr lang="pt-BR" sz="2000">
                <a:solidFill>
                  <a:srgbClr val="FF0000"/>
                </a:solidFill>
              </a:rPr>
              <a:t>x</a:t>
            </a:r>
            <a:r>
              <a:rPr lang="pt-BR" sz="2000"/>
              <a:t>tendido, e</a:t>
            </a:r>
            <a:r>
              <a:rPr lang="pt-BR" sz="2000">
                <a:solidFill>
                  <a:srgbClr val="FF0000"/>
                </a:solidFill>
              </a:rPr>
              <a:t>Z</a:t>
            </a:r>
            <a:r>
              <a:rPr lang="pt-BR" sz="2000"/>
              <a:t>tendido, </a:t>
            </a:r>
            <a:r>
              <a:rPr lang="pt-BR"/>
              <a:t>…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Combina com pretendido?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Aplicações: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1" lang="pt-BR"/>
              <a:t>Verificar acentuação ou escrita:</a:t>
            </a:r>
            <a:r>
              <a:rPr lang="pt-BR"/>
              <a:t>  “n.o”, permite: não, nao, etc;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1" lang="pt-BR"/>
              <a:t>Verificar separador de horário:</a:t>
            </a:r>
            <a:r>
              <a:rPr lang="pt-BR"/>
              <a:t> “12.45”, permite: 12h45, 12.45, 12:45, etc.;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1" lang="pt-BR"/>
              <a:t>Verificar tags HTML:</a:t>
            </a:r>
            <a:r>
              <a:rPr lang="pt-BR"/>
              <a:t> &lt;.&gt;, permite: &lt;B&gt;, &lt;i&gt;, &lt;p&gt;, etc..</a:t>
            </a:r>
            <a:endParaRPr/>
          </a:p>
        </p:txBody>
      </p:sp>
      <p:graphicFrame>
        <p:nvGraphicFramePr>
          <p:cNvPr id="180" name="Google Shape;180;g1df931621eb_1_14"/>
          <p:cNvGraphicFramePr/>
          <p:nvPr/>
        </p:nvGraphicFramePr>
        <p:xfrm>
          <a:off x="1758165" y="16983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{53FF6AC9-10A6-45BC-A15A-AF525CF167F6}</a:tableStyleId>
              </a:tblPr>
              <a:tblGrid>
                <a:gridCol w="765500"/>
                <a:gridCol w="1384550"/>
                <a:gridCol w="3007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Meta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Mnemônico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Função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Ponto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Um </a:t>
                      </a:r>
                      <a:r>
                        <a:rPr lang="pt-BR" sz="1800" u="none" cap="none" strike="noStrike"/>
                        <a:t>caractere qualquer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1" name="Google Shape;181;g1df931621eb_1_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2" name="Google Shape;182;g1df931621eb_1_14"/>
          <p:cNvSpPr txBox="1"/>
          <p:nvPr/>
        </p:nvSpPr>
        <p:spPr>
          <a:xfrm>
            <a:off x="3964375" y="3847925"/>
            <a:ext cx="354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Não! Deve haver algum símbolo entre ‘e’ e ‘t’.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1df931621eb_1_14"/>
          <p:cNvSpPr/>
          <p:nvPr/>
        </p:nvSpPr>
        <p:spPr>
          <a:xfrm>
            <a:off x="3275600" y="3988475"/>
            <a:ext cx="225600" cy="234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representantes</a:t>
            </a:r>
            <a:endParaRPr/>
          </a:p>
        </p:txBody>
      </p:sp>
      <p:sp>
        <p:nvSpPr>
          <p:cNvPr id="189" name="Google Shape;189;p8"/>
          <p:cNvSpPr txBox="1"/>
          <p:nvPr>
            <p:ph idx="1" type="body"/>
          </p:nvPr>
        </p:nvSpPr>
        <p:spPr>
          <a:xfrm>
            <a:off x="76200" y="1600200"/>
            <a:ext cx="8229600" cy="3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Lista: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Limita os caracteres aceitos. Apenas um dentre os caracteres listados é aceito. Exemplos: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Regex: “n[ãa]o”, permite apenas: 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não, nao.</a:t>
            </a:r>
            <a:endParaRPr>
              <a:solidFill>
                <a:srgbClr val="FF0000"/>
              </a:solidFill>
            </a:endParaRPr>
          </a:p>
          <a:p>
            <a:pPr indent="0" lvl="0" marL="1143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Regex: “12[:.h]45”, permite apenas: 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12:45, 12.45, 12h45.</a:t>
            </a:r>
            <a:endParaRPr/>
          </a:p>
        </p:txBody>
      </p:sp>
      <p:graphicFrame>
        <p:nvGraphicFramePr>
          <p:cNvPr id="190" name="Google Shape;190;p8"/>
          <p:cNvGraphicFramePr/>
          <p:nvPr/>
        </p:nvGraphicFramePr>
        <p:xfrm>
          <a:off x="1331640" y="1671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{53FF6AC9-10A6-45BC-A15A-AF525CF167F6}</a:tableStyleId>
              </a:tblPr>
              <a:tblGrid>
                <a:gridCol w="765500"/>
                <a:gridCol w="1384550"/>
                <a:gridCol w="3007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Meta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Mnemônico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Função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[ ... ]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Lista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Lista de caracteres permitidos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1" name="Google Shape;191;p8"/>
          <p:cNvSpPr txBox="1"/>
          <p:nvPr/>
        </p:nvSpPr>
        <p:spPr>
          <a:xfrm>
            <a:off x="146800" y="4736400"/>
            <a:ext cx="4709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Atenção: </a:t>
            </a:r>
            <a:endParaRPr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Símbolos dentro de listas são:</a:t>
            </a:r>
            <a:endParaRPr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Calibri"/>
              <a:buChar char="-"/>
            </a:pPr>
            <a:r>
              <a:rPr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Caracteres comuns, </a:t>
            </a:r>
            <a:r>
              <a:rPr lang="pt-BR" sz="22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não são metacaracteres</a:t>
            </a:r>
            <a:r>
              <a:rPr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 Exemplo: ponto.</a:t>
            </a:r>
            <a:endParaRPr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Calibri"/>
              <a:buChar char="-"/>
            </a:pPr>
            <a:r>
              <a:rPr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Case sensitive.</a:t>
            </a:r>
            <a:endParaRPr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3" name="Google Shape;19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1900" y="3108428"/>
            <a:ext cx="3441831" cy="32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representantes</a:t>
            </a:r>
            <a:endParaRPr/>
          </a:p>
        </p:txBody>
      </p:sp>
      <p:sp>
        <p:nvSpPr>
          <p:cNvPr id="199" name="Google Shape;199;p9"/>
          <p:cNvSpPr txBox="1"/>
          <p:nvPr>
            <p:ph idx="1" type="body"/>
          </p:nvPr>
        </p:nvSpPr>
        <p:spPr>
          <a:xfrm>
            <a:off x="377225" y="1680175"/>
            <a:ext cx="8500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Lista [... ]: permite definir intervalo de caracteres.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[0 – 9]: permite um número de zero a nove;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[a – z]: permite uma letra do alfabeto em minúsculo;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[A – Z]: permite uma letra do alfabeto em maiúsculo;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[: - @]: permite um dos caracteres :  ;  &lt;  =  &gt;  ?  @. Ordem numérica da tabela ASCII;</a:t>
            </a:r>
            <a:endParaRPr/>
          </a:p>
          <a:p>
            <a:pPr indent="0" lvl="0" marL="74295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Observações: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Não é possível aninhar listas (lista dentro de lista);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Para permitir um -, deve </a:t>
            </a:r>
            <a:r>
              <a:rPr lang="pt-BR"/>
              <a:t>colocá-lo</a:t>
            </a:r>
            <a:r>
              <a:rPr lang="pt-BR"/>
              <a:t> após o intervalo: [0 - 9 -];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Para permitir um ], deve colocá-lo como primeiro item da lista: [ ] [ - ]. </a:t>
            </a:r>
            <a:r>
              <a:rPr lang="pt-BR">
                <a:solidFill>
                  <a:srgbClr val="FF0000"/>
                </a:solidFill>
              </a:rPr>
              <a:t>ANALISAR ESTA REGEX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00" name="Google Shape;200;p9"/>
          <p:cNvCxnSpPr/>
          <p:nvPr/>
        </p:nvCxnSpPr>
        <p:spPr>
          <a:xfrm flipH="1" rot="10800000">
            <a:off x="3669375" y="5718125"/>
            <a:ext cx="4455300" cy="198000"/>
          </a:xfrm>
          <a:prstGeom prst="bentConnector3">
            <a:avLst>
              <a:gd fmla="val 9997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1" name="Google Shape;201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803100" y="6090250"/>
            <a:ext cx="788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Pesquise sobre classes POSIX para acentuação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representantes</a:t>
            </a:r>
            <a:endParaRPr/>
          </a:p>
        </p:txBody>
      </p:sp>
      <p:sp>
        <p:nvSpPr>
          <p:cNvPr id="208" name="Google Shape;208;p11"/>
          <p:cNvSpPr txBox="1"/>
          <p:nvPr>
            <p:ph idx="1" type="body"/>
          </p:nvPr>
        </p:nvSpPr>
        <p:spPr>
          <a:xfrm>
            <a:off x="457200" y="1524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Lista negada: </a:t>
            </a:r>
            <a:endParaRPr/>
          </a:p>
          <a:p>
            <a:pPr indent="0" lvl="0" marL="7429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7429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pt-BR"/>
              <a:t>Permite qualquer caractere que não esteja na lista. Não </a:t>
            </a:r>
            <a:r>
              <a:rPr lang="pt-BR"/>
              <a:t>inclui</a:t>
            </a:r>
            <a:r>
              <a:rPr lang="pt-BR"/>
              <a:t> ‘nenhum caractere’. Deve haver algo;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Acento circunflexo (^) no início da lista indica lista negada;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Para não aceitar ^, deve colocá-lo em uma posição da lista, além da primeira: [^A-Z^].</a:t>
            </a:r>
            <a:endParaRPr/>
          </a:p>
        </p:txBody>
      </p:sp>
      <p:graphicFrame>
        <p:nvGraphicFramePr>
          <p:cNvPr id="209" name="Google Shape;209;p11"/>
          <p:cNvGraphicFramePr/>
          <p:nvPr/>
        </p:nvGraphicFramePr>
        <p:xfrm>
          <a:off x="2855640" y="17476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{53FF6AC9-10A6-45BC-A15A-AF525CF167F6}</a:tableStyleId>
              </a:tblPr>
              <a:tblGrid>
                <a:gridCol w="765500"/>
                <a:gridCol w="1384550"/>
                <a:gridCol w="3007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Meta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Mnemônico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Função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[^ ... ]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Lista negada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Lista de </a:t>
                      </a:r>
                      <a:r>
                        <a:rPr lang="pt-BR" sz="1800"/>
                        <a:t>caracteres</a:t>
                      </a:r>
                      <a:r>
                        <a:rPr lang="pt-BR" sz="1800" u="none" cap="none" strike="noStrike"/>
                        <a:t> </a:t>
                      </a:r>
                      <a:r>
                        <a:rPr lang="pt-BR" sz="1800"/>
                        <a:t>não aceitos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0" name="Google Shape;210;p11"/>
          <p:cNvSpPr txBox="1"/>
          <p:nvPr/>
        </p:nvSpPr>
        <p:spPr>
          <a:xfrm>
            <a:off x="924744" y="5114715"/>
            <a:ext cx="242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e[^x]tendido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estendido,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extendido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2" name="Google Shape;21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277" y="3975100"/>
            <a:ext cx="3201525" cy="2788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dfd15ee7f9_0_13"/>
          <p:cNvSpPr txBox="1"/>
          <p:nvPr>
            <p:ph type="ctrTitle"/>
          </p:nvPr>
        </p:nvSpPr>
        <p:spPr>
          <a:xfrm>
            <a:off x="634325" y="202325"/>
            <a:ext cx="6762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Análise de dados e extração de conhecimento</a:t>
            </a:r>
            <a:endParaRPr/>
          </a:p>
        </p:txBody>
      </p:sp>
      <p:sp>
        <p:nvSpPr>
          <p:cNvPr id="219" name="Google Shape;219;g1dfd15ee7f9_0_13"/>
          <p:cNvSpPr txBox="1"/>
          <p:nvPr>
            <p:ph idx="1" type="subTitle"/>
          </p:nvPr>
        </p:nvSpPr>
        <p:spPr>
          <a:xfrm>
            <a:off x="357158" y="5786454"/>
            <a:ext cx="32718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pt-BR" sz="1800"/>
              <a:t>Prof. Leandro Freitas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pt-BR" sz="1800"/>
              <a:t>leandro@politecnico.ufsm.br</a:t>
            </a:r>
            <a:endParaRPr sz="1800"/>
          </a:p>
        </p:txBody>
      </p:sp>
      <p:sp>
        <p:nvSpPr>
          <p:cNvPr id="220" name="Google Shape;220;g1dfd15ee7f9_0_13"/>
          <p:cNvSpPr txBox="1"/>
          <p:nvPr/>
        </p:nvSpPr>
        <p:spPr>
          <a:xfrm>
            <a:off x="835968" y="2789312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Metacaracteres quantificadores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quantificadores</a:t>
            </a:r>
            <a:endParaRPr/>
          </a:p>
        </p:txBody>
      </p:sp>
      <p:graphicFrame>
        <p:nvGraphicFramePr>
          <p:cNvPr id="226" name="Google Shape;226;p12"/>
          <p:cNvGraphicFramePr/>
          <p:nvPr/>
        </p:nvGraphicFramePr>
        <p:xfrm>
          <a:off x="1767880" y="27935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{53FF6AC9-10A6-45BC-A15A-AF525CF167F6}</a:tableStyleId>
              </a:tblPr>
              <a:tblGrid>
                <a:gridCol w="1612000"/>
                <a:gridCol w="1077650"/>
                <a:gridCol w="1894075"/>
              </a:tblGrid>
              <a:tr h="40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Metacaractere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Opcional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ou um.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82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Asterisco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Zero, um ou mais.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 ou mais.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2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{n,m}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Chaves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n até m.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27" name="Google Shape;227;p12"/>
          <p:cNvSpPr txBox="1"/>
          <p:nvPr/>
        </p:nvSpPr>
        <p:spPr>
          <a:xfrm>
            <a:off x="457200" y="1600201"/>
            <a:ext cx="8229600" cy="1324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Permitem definir o número de repetições para cada entidade imediatamente anterior (caractere ou metacaractere).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dfd15ee7f9_0_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Metacaracteres quantificadores</a:t>
            </a:r>
            <a:endParaRPr/>
          </a:p>
        </p:txBody>
      </p:sp>
      <p:sp>
        <p:nvSpPr>
          <p:cNvPr id="235" name="Google Shape;235;g1dfd15ee7f9_0_27"/>
          <p:cNvSpPr txBox="1"/>
          <p:nvPr>
            <p:ph idx="1" type="body"/>
          </p:nvPr>
        </p:nvSpPr>
        <p:spPr>
          <a:xfrm>
            <a:off x="457200" y="1600200"/>
            <a:ext cx="848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Opcional: permite a ocorrência da entidade anterior zero ou uma vez.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Exemplo: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regex “ondas?”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permite: onda, ondas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Atenção: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pt-BR"/>
              <a:t>Cada caractere de uma ER é um átomo, então o quantificador </a:t>
            </a:r>
            <a:r>
              <a:rPr b="1" i="1" lang="pt-BR"/>
              <a:t>?</a:t>
            </a:r>
            <a:r>
              <a:rPr b="1" lang="pt-BR"/>
              <a:t> é aplicado apenas ao átomo anterior, e não a palavra toda.</a:t>
            </a:r>
            <a:endParaRPr b="1"/>
          </a:p>
        </p:txBody>
      </p:sp>
      <p:graphicFrame>
        <p:nvGraphicFramePr>
          <p:cNvPr id="236" name="Google Shape;236;g1dfd15ee7f9_0_27"/>
          <p:cNvGraphicFramePr/>
          <p:nvPr/>
        </p:nvGraphicFramePr>
        <p:xfrm>
          <a:off x="2426130" y="25115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{53FF6AC9-10A6-45BC-A15A-AF525CF167F6}</a:tableStyleId>
              </a:tblPr>
              <a:tblGrid>
                <a:gridCol w="1612000"/>
                <a:gridCol w="1077650"/>
                <a:gridCol w="1894075"/>
              </a:tblGrid>
              <a:tr h="40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Metacaractere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Opcional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ou um.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37" name="Google Shape;237;g1dfd15ee7f9_0_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quantificadores</a:t>
            </a:r>
            <a:endParaRPr/>
          </a:p>
        </p:txBody>
      </p:sp>
      <p:sp>
        <p:nvSpPr>
          <p:cNvPr id="243" name="Google Shape;243;p13"/>
          <p:cNvSpPr txBox="1"/>
          <p:nvPr>
            <p:ph idx="1" type="body"/>
          </p:nvPr>
        </p:nvSpPr>
        <p:spPr>
          <a:xfrm>
            <a:off x="457200" y="1600200"/>
            <a:ext cx="8229600" cy="16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Uma ER deve ser lida átomo por átomo e sempre da esquerda para a direita.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Exemplo: O que uma palavra deve conter para ser válida de acordo com a regex “fala[r!]?” ?</a:t>
            </a:r>
            <a:endParaRPr/>
          </a:p>
        </p:txBody>
      </p:sp>
      <p:sp>
        <p:nvSpPr>
          <p:cNvPr id="244" name="Google Shape;244;p13"/>
          <p:cNvSpPr txBox="1"/>
          <p:nvPr/>
        </p:nvSpPr>
        <p:spPr>
          <a:xfrm>
            <a:off x="255200" y="4487325"/>
            <a:ext cx="323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Acostume-se a ler átomo por átomo e analisar as possibilidades!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6" name="Google Shape;246;p13"/>
          <p:cNvSpPr txBox="1"/>
          <p:nvPr/>
        </p:nvSpPr>
        <p:spPr>
          <a:xfrm>
            <a:off x="867275" y="3147950"/>
            <a:ext cx="23058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fala!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0" y="2882775"/>
            <a:ext cx="4102675" cy="35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dfd15ee7f9_0_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Metacaracteres quantificadores</a:t>
            </a:r>
            <a:endParaRPr/>
          </a:p>
        </p:txBody>
      </p:sp>
      <p:sp>
        <p:nvSpPr>
          <p:cNvPr id="254" name="Google Shape;254;g1dfd15ee7f9_0_36"/>
          <p:cNvSpPr txBox="1"/>
          <p:nvPr>
            <p:ph idx="1" type="body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Analise a regex abaixo e liste a possibilidades de casamento (match):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“&lt;/?[BIPbip]&gt;”</a:t>
            </a:r>
            <a:endParaRPr/>
          </a:p>
        </p:txBody>
      </p:sp>
      <p:sp>
        <p:nvSpPr>
          <p:cNvPr id="255" name="Google Shape;255;g1dfd15ee7f9_0_36"/>
          <p:cNvSpPr txBox="1"/>
          <p:nvPr/>
        </p:nvSpPr>
        <p:spPr>
          <a:xfrm>
            <a:off x="421250" y="2698075"/>
            <a:ext cx="5651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(casa com):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&lt;/B&gt;, &lt;/I&gt;, &lt;/P&gt;,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&lt;/b&gt;, &lt;/i&gt;, &lt;/p&gt;,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&lt;B&gt;, &lt;I&gt;, &lt;P&gt;,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&lt;b&gt;, &lt;i&gt;, &lt;p&gt;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1dfd15ee7f9_0_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dfd15ee7f9_0_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Metacaracteres quantificadores</a:t>
            </a:r>
            <a:endParaRPr/>
          </a:p>
        </p:txBody>
      </p:sp>
      <p:sp>
        <p:nvSpPr>
          <p:cNvPr id="263" name="Google Shape;263;g1dfd15ee7f9_0_42"/>
          <p:cNvSpPr txBox="1"/>
          <p:nvPr>
            <p:ph idx="1" type="body"/>
          </p:nvPr>
        </p:nvSpPr>
        <p:spPr>
          <a:xfrm>
            <a:off x="457200" y="1600200"/>
            <a:ext cx="85887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Asterisco: permite zero ou uma ou mais ocorrências de uma entidade.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Analise a regex: “</a:t>
            </a:r>
            <a:r>
              <a:rPr lang="pt-BR" sz="2000"/>
              <a:t>&lt;/?[BIPbip] *&gt;”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Permite o mesmo conjunto de possibilidades do slide anterior e também a presença ou não de espaço(s) em branco antes do sinal de &gt;.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metacaractere ponto “.” permite qualquer símbolo. O metacaractere “*” permite qualquer quantidade. E se juntarmos os dois? </a:t>
            </a:r>
            <a:endParaRPr/>
          </a:p>
        </p:txBody>
      </p:sp>
      <p:graphicFrame>
        <p:nvGraphicFramePr>
          <p:cNvPr id="264" name="Google Shape;264;g1dfd15ee7f9_0_42"/>
          <p:cNvGraphicFramePr/>
          <p:nvPr/>
        </p:nvGraphicFramePr>
        <p:xfrm>
          <a:off x="2280143" y="21817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{53FF6AC9-10A6-45BC-A15A-AF525CF167F6}</a:tableStyleId>
              </a:tblPr>
              <a:tblGrid>
                <a:gridCol w="1612000"/>
                <a:gridCol w="1077650"/>
                <a:gridCol w="1894075"/>
              </a:tblGrid>
              <a:tr h="40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Metacaractere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82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Asterisco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Zero, um ou mais.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65" name="Google Shape;265;g1dfd15ee7f9_0_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dfd15ee7f9_0_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Metacaracteres quantificadores</a:t>
            </a:r>
            <a:endParaRPr/>
          </a:p>
        </p:txBody>
      </p:sp>
      <p:sp>
        <p:nvSpPr>
          <p:cNvPr id="272" name="Google Shape;272;g1dfd15ee7f9_0_4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Curinga: junção do ponto e </a:t>
            </a:r>
            <a:r>
              <a:rPr lang="pt-BR"/>
              <a:t>asterisco</a:t>
            </a:r>
            <a:r>
              <a:rPr lang="pt-BR"/>
              <a:t> juntos: .*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permite qualquer caractere em qualquer quantidade.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Quando usar: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Muitas vezes uma expressão regular é escrita para encontrar padrões e parte dessas expressões não é importante. Nesses casos, pode-se utilizar este curinga. Exemplo: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pt-BR"/>
              <a:t>Analisar logs de acesso a um sistema: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pt-BR"/>
              <a:t>regex “27/03/2023 .* login”</a:t>
            </a:r>
            <a:endParaRPr/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1" marL="914400" rtl="0" algn="l"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Outro exemplo: regex </a:t>
            </a:r>
            <a:r>
              <a:rPr lang="pt-BR"/>
              <a:t>“relatório.*amanhã”:</a:t>
            </a:r>
            <a:r>
              <a:rPr lang="pt-BR" sz="2400"/>
              <a:t> </a:t>
            </a:r>
            <a:r>
              <a:rPr lang="pt-BR"/>
              <a:t>Permite: </a:t>
            </a:r>
            <a:endParaRPr/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/>
              <a:t>relatório para amanhã; </a:t>
            </a:r>
            <a:endParaRPr/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/>
              <a:t>relatório importante! Entregar amanhã; </a:t>
            </a:r>
            <a:endParaRPr/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/>
              <a:t>relatório: deadline amanhã.</a:t>
            </a:r>
            <a:endParaRPr/>
          </a:p>
        </p:txBody>
      </p:sp>
      <p:sp>
        <p:nvSpPr>
          <p:cNvPr id="273" name="Google Shape;273;g1dfd15ee7f9_0_4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dfe15e45dc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Metacaracteres quantificadores</a:t>
            </a:r>
            <a:endParaRPr/>
          </a:p>
        </p:txBody>
      </p:sp>
      <p:sp>
        <p:nvSpPr>
          <p:cNvPr id="280" name="Google Shape;280;g1dfe15e45dc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Sinal de mais (+): permite uma ou mais ocorrências de uma entidade.</a:t>
            </a:r>
            <a:endParaRPr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Aplicação semelhante ao *, com a diferença de que deve haver, pelo menos, uma ocorrência do átomo. Exemplo: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pt-BR" sz="1800"/>
              <a:t>Regex</a:t>
            </a:r>
            <a:r>
              <a:rPr lang="pt-BR" sz="1800"/>
              <a:t>: </a:t>
            </a:r>
            <a:r>
              <a:rPr lang="pt-BR" sz="1800"/>
              <a:t>Go+l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pt-BR" sz="1800"/>
              <a:t>Permite</a:t>
            </a:r>
            <a:r>
              <a:rPr lang="pt-BR" sz="1800"/>
              <a:t>: Gol, Goool, ...</a:t>
            </a:r>
            <a:endParaRPr/>
          </a:p>
        </p:txBody>
      </p:sp>
      <p:graphicFrame>
        <p:nvGraphicFramePr>
          <p:cNvPr id="281" name="Google Shape;281;g1dfe15e45dc_0_0"/>
          <p:cNvGraphicFramePr/>
          <p:nvPr/>
        </p:nvGraphicFramePr>
        <p:xfrm>
          <a:off x="2438530" y="21699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{53FF6AC9-10A6-45BC-A15A-AF525CF167F6}</a:tableStyleId>
              </a:tblPr>
              <a:tblGrid>
                <a:gridCol w="1612000"/>
                <a:gridCol w="1077650"/>
                <a:gridCol w="1894075"/>
              </a:tblGrid>
              <a:tr h="40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Metacaractere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 ou mais.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82" name="Google Shape;282;g1dfe15e45dc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dfe15e45dc_0_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Metacaracteres quantificadores</a:t>
            </a:r>
            <a:endParaRPr/>
          </a:p>
        </p:txBody>
      </p:sp>
      <p:sp>
        <p:nvSpPr>
          <p:cNvPr id="289" name="Google Shape;289;g1dfe15e45dc_0_8"/>
          <p:cNvSpPr txBox="1"/>
          <p:nvPr>
            <p:ph idx="1" type="body"/>
          </p:nvPr>
        </p:nvSpPr>
        <p:spPr>
          <a:xfrm>
            <a:off x="457200" y="1600200"/>
            <a:ext cx="8229600" cy="147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Sinal de chaves {}: permite especificar a quantidade mínima e máxima permitida de ocorrências de um átomo, onde: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n, refere-se a quantidade mínima de ocorrências aceitas;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m, refere-se a quantidade máxima de ocorrências aceitas.</a:t>
            </a:r>
            <a:endParaRPr/>
          </a:p>
        </p:txBody>
      </p:sp>
      <p:graphicFrame>
        <p:nvGraphicFramePr>
          <p:cNvPr id="290" name="Google Shape;290;g1dfe15e45dc_0_8"/>
          <p:cNvGraphicFramePr/>
          <p:nvPr/>
        </p:nvGraphicFramePr>
        <p:xfrm>
          <a:off x="381130" y="31605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{53FF6AC9-10A6-45BC-A15A-AF525CF167F6}</a:tableStyleId>
              </a:tblPr>
              <a:tblGrid>
                <a:gridCol w="1612000"/>
                <a:gridCol w="1077650"/>
                <a:gridCol w="1894075"/>
              </a:tblGrid>
              <a:tr h="40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Metacaractere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01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{n,m}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Chaves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n até m.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91" name="Google Shape;291;g1dfe15e45dc_0_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2" name="Google Shape;292;g1dfe15e45dc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2575" y="3077698"/>
            <a:ext cx="3384225" cy="290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dfe15e45dc_0_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Metacaracteres quantificadores</a:t>
            </a:r>
            <a:endParaRPr/>
          </a:p>
        </p:txBody>
      </p:sp>
      <p:sp>
        <p:nvSpPr>
          <p:cNvPr id="299" name="Google Shape;299;g1dfe15e45dc_0_19"/>
          <p:cNvSpPr txBox="1"/>
          <p:nvPr>
            <p:ph idx="1" type="body"/>
          </p:nvPr>
        </p:nvSpPr>
        <p:spPr>
          <a:xfrm>
            <a:off x="457200" y="1600200"/>
            <a:ext cx="8229600" cy="44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Algumas variações:</a:t>
            </a:r>
            <a:endParaRPr/>
          </a:p>
        </p:txBody>
      </p:sp>
      <p:graphicFrame>
        <p:nvGraphicFramePr>
          <p:cNvPr id="300" name="Google Shape;300;g1dfe15e45dc_0_19"/>
          <p:cNvGraphicFramePr/>
          <p:nvPr/>
        </p:nvGraphicFramePr>
        <p:xfrm>
          <a:off x="871563" y="222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{3414E0AE-8B54-43C1-8505-C110E4DD4FBA}</a:tableStyleId>
              </a:tblPr>
              <a:tblGrid>
                <a:gridCol w="1379675"/>
                <a:gridCol w="24730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metacaractere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repetições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{1,3}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de 1 a 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{3,}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pelo menos 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{0,3}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até 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{3}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exatamente 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0000"/>
                          </a:solidFill>
                        </a:rPr>
                        <a:t>{1}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0000"/>
                          </a:solidFill>
                        </a:rPr>
                        <a:t>exatamente 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0000"/>
                          </a:solidFill>
                        </a:rPr>
                        <a:t>{0,1}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0000"/>
                          </a:solidFill>
                        </a:rPr>
                        <a:t>zero ou 1 (igual ao ?)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0000"/>
                          </a:solidFill>
                        </a:rPr>
                        <a:t>{0,}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0000"/>
                          </a:solidFill>
                        </a:rPr>
                        <a:t>zero ou mais (igual ao *)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0000"/>
                          </a:solidFill>
                        </a:rPr>
                        <a:t>{1,}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rgbClr val="FF0000"/>
                          </a:solidFill>
                        </a:rPr>
                        <a:t>Um ou mais (igual ao +)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1" name="Google Shape;301;g1dfe15e45dc_0_19"/>
          <p:cNvSpPr txBox="1"/>
          <p:nvPr/>
        </p:nvSpPr>
        <p:spPr>
          <a:xfrm>
            <a:off x="5356778" y="2187001"/>
            <a:ext cx="3258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Go{1,3}l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Válido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Gol, Gool, Goool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Go{2}l (exatamente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Válido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Gool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1dfe15e45dc_0_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dfd15ee7f9_0_20"/>
          <p:cNvSpPr txBox="1"/>
          <p:nvPr>
            <p:ph type="ctrTitle"/>
          </p:nvPr>
        </p:nvSpPr>
        <p:spPr>
          <a:xfrm>
            <a:off x="634325" y="202325"/>
            <a:ext cx="6762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Análise de dados e extração de conhecimento</a:t>
            </a:r>
            <a:endParaRPr/>
          </a:p>
        </p:txBody>
      </p:sp>
      <p:sp>
        <p:nvSpPr>
          <p:cNvPr id="309" name="Google Shape;309;g1dfd15ee7f9_0_20"/>
          <p:cNvSpPr txBox="1"/>
          <p:nvPr>
            <p:ph idx="1" type="subTitle"/>
          </p:nvPr>
        </p:nvSpPr>
        <p:spPr>
          <a:xfrm>
            <a:off x="357158" y="5786454"/>
            <a:ext cx="32718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pt-BR" sz="1800"/>
              <a:t>Prof. Leandro Freitas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pt-BR" sz="1800"/>
              <a:t>leandro@politecnico.ufsm.br</a:t>
            </a:r>
            <a:endParaRPr sz="1800"/>
          </a:p>
        </p:txBody>
      </p:sp>
      <p:sp>
        <p:nvSpPr>
          <p:cNvPr id="310" name="Google Shape;310;g1dfd15ee7f9_0_20"/>
          <p:cNvSpPr txBox="1"/>
          <p:nvPr/>
        </p:nvSpPr>
        <p:spPr>
          <a:xfrm>
            <a:off x="835968" y="2789312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Metacaracteres âncora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e0b556ae49_0_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âncora</a:t>
            </a:r>
            <a:endParaRPr/>
          </a:p>
        </p:txBody>
      </p:sp>
      <p:sp>
        <p:nvSpPr>
          <p:cNvPr id="316" name="Google Shape;316;g1e0b556ae49_0_25"/>
          <p:cNvSpPr txBox="1"/>
          <p:nvPr>
            <p:ph idx="1" type="body"/>
          </p:nvPr>
        </p:nvSpPr>
        <p:spPr>
          <a:xfrm>
            <a:off x="457200" y="1600200"/>
            <a:ext cx="82296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Não verificam caracteres nem definem quantidades;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Marcam posições específicas na linha.</a:t>
            </a:r>
            <a:endParaRPr/>
          </a:p>
          <a:p>
            <a:pPr indent="-101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g1e0b556ae49_0_25"/>
          <p:cNvGraphicFramePr/>
          <p:nvPr/>
        </p:nvGraphicFramePr>
        <p:xfrm>
          <a:off x="1219200" y="273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{3414E0AE-8B54-43C1-8505-C110E4DD4FBA}</a:tableStyleId>
              </a:tblPr>
              <a:tblGrid>
                <a:gridCol w="2320700"/>
                <a:gridCol w="1437525"/>
                <a:gridCol w="2582650"/>
              </a:tblGrid>
              <a:tr h="45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Metacaractere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Nome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Função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45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^ (fora de colchetes)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Circunflexo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Marcar início de linha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5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$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Cifrão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Marcar final de linha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\b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Borda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Marcar limites de uma palavra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8" name="Google Shape;318;g1e0b556ae49_0_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e0b556ae49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âncora</a:t>
            </a:r>
            <a:endParaRPr/>
          </a:p>
        </p:txBody>
      </p:sp>
      <p:sp>
        <p:nvSpPr>
          <p:cNvPr id="324" name="Google Shape;324;g1e0b556ae49_0_0"/>
          <p:cNvSpPr txBox="1"/>
          <p:nvPr>
            <p:ph idx="1" type="body"/>
          </p:nvPr>
        </p:nvSpPr>
        <p:spPr>
          <a:xfrm>
            <a:off x="457200" y="1600200"/>
            <a:ext cx="84591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Circunflexo (^):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Dentro de colchetes representa lista negada (metacaractere representante);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Aqui, fora de colchetes, marca o início de uma linha. Exemplo: “^[0-9]”: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Permite linhas que começam por um número.</a:t>
            </a:r>
            <a:endParaRPr/>
          </a:p>
          <a:p>
            <a:pPr indent="0" lvl="0" marL="1143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E essa regex? “^[^0-9]”</a:t>
            </a:r>
            <a:endParaRPr/>
          </a:p>
        </p:txBody>
      </p:sp>
      <p:sp>
        <p:nvSpPr>
          <p:cNvPr id="325" name="Google Shape;325;g1e0b556ae49_0_0"/>
          <p:cNvSpPr txBox="1"/>
          <p:nvPr/>
        </p:nvSpPr>
        <p:spPr>
          <a:xfrm>
            <a:off x="457200" y="3889675"/>
            <a:ext cx="760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linhas que NÃO começam por um número.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essa outra? “[0-9]\^”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1e0b556ae49_0_0"/>
          <p:cNvSpPr txBox="1"/>
          <p:nvPr/>
        </p:nvSpPr>
        <p:spPr>
          <a:xfrm>
            <a:off x="457200" y="4876800"/>
            <a:ext cx="747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um número seguido de um ^ em qualquer posição da linha.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Usar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 caractere de escape (\) antes do ^.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1e0b556ae49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e0b556ae49_0_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âncora</a:t>
            </a:r>
            <a:endParaRPr/>
          </a:p>
        </p:txBody>
      </p:sp>
      <p:sp>
        <p:nvSpPr>
          <p:cNvPr id="333" name="Google Shape;333;g1e0b556ae49_0_8"/>
          <p:cNvSpPr txBox="1"/>
          <p:nvPr>
            <p:ph idx="1" type="body"/>
          </p:nvPr>
        </p:nvSpPr>
        <p:spPr>
          <a:xfrm>
            <a:off x="457200" y="1600200"/>
            <a:ext cx="84591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Cifrão</a:t>
            </a:r>
            <a:r>
              <a:rPr lang="pt-BR"/>
              <a:t> ($):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Similar e complementar ao circunflexo;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Marca o fim de uma linha e só é válido no final de uma regex;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Exemplo: “[.?!]$”: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Permite apenas linhas que terminam com um desses três símbolos.</a:t>
            </a:r>
            <a:endParaRPr/>
          </a:p>
          <a:p>
            <a:pPr indent="0" lvl="0" marL="1143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E essa regex? “^$”</a:t>
            </a:r>
            <a:endParaRPr/>
          </a:p>
        </p:txBody>
      </p:sp>
      <p:sp>
        <p:nvSpPr>
          <p:cNvPr id="334" name="Google Shape;334;g1e0b556ae49_0_8"/>
          <p:cNvSpPr txBox="1"/>
          <p:nvPr/>
        </p:nvSpPr>
        <p:spPr>
          <a:xfrm>
            <a:off x="457200" y="3889675"/>
            <a:ext cx="760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começo de linha seguido de um final. Ou seja…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1e0b556ae49_0_8"/>
          <p:cNvSpPr txBox="1"/>
          <p:nvPr/>
        </p:nvSpPr>
        <p:spPr>
          <a:xfrm>
            <a:off x="457200" y="4267200"/>
            <a:ext cx="747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…linha vazia!!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429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essa outra? “^.{20,60}$”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1e0b556ae49_0_8"/>
          <p:cNvSpPr txBox="1"/>
          <p:nvPr/>
        </p:nvSpPr>
        <p:spPr>
          <a:xfrm>
            <a:off x="457200" y="5181600"/>
            <a:ext cx="74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linhas que tenham entre 20 e 60 caracteres.</a:t>
            </a:r>
            <a:endParaRPr/>
          </a:p>
        </p:txBody>
      </p:sp>
      <p:sp>
        <p:nvSpPr>
          <p:cNvPr id="337" name="Google Shape;337;g1e0b556ae49_0_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e0b556ae49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Metacaracteres âncora</a:t>
            </a:r>
            <a:endParaRPr/>
          </a:p>
        </p:txBody>
      </p:sp>
      <p:sp>
        <p:nvSpPr>
          <p:cNvPr id="343" name="Google Shape;343;g1e0b556ae49_0_16"/>
          <p:cNvSpPr txBox="1"/>
          <p:nvPr>
            <p:ph idx="1" type="body"/>
          </p:nvPr>
        </p:nvSpPr>
        <p:spPr>
          <a:xfrm>
            <a:off x="457200" y="1600200"/>
            <a:ext cx="8459100" cy="21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Borda (\b):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Delimita as bordas de uma palavra, ou seja, onde ela começa e/ ou termina;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Muito útil para procurar por palavras exatas ou que possuam um conjunto específico de caracteres;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pt-BR"/>
              <a:t>Força um começo ou terminação de uma palavra.</a:t>
            </a:r>
            <a:endParaRPr/>
          </a:p>
        </p:txBody>
      </p:sp>
      <p:graphicFrame>
        <p:nvGraphicFramePr>
          <p:cNvPr id="344" name="Google Shape;344;g1e0b556ae49_0_16"/>
          <p:cNvGraphicFramePr/>
          <p:nvPr/>
        </p:nvGraphicFramePr>
        <p:xfrm>
          <a:off x="1749075" y="36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{3414E0AE-8B54-43C1-8505-C110E4DD4FBA}</a:tableStyleId>
              </a:tblPr>
              <a:tblGrid>
                <a:gridCol w="1284325"/>
                <a:gridCol w="4591025"/>
              </a:tblGrid>
              <a:tr h="40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Regex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Permite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4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dia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dia</a:t>
                      </a:r>
                      <a:r>
                        <a:rPr lang="pt-BR" sz="1800"/>
                        <a:t>, </a:t>
                      </a: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dia</a:t>
                      </a:r>
                      <a:r>
                        <a:rPr lang="pt-BR" sz="1800"/>
                        <a:t>fragma, melo</a:t>
                      </a: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dia</a:t>
                      </a:r>
                      <a:r>
                        <a:rPr lang="pt-BR" sz="1800"/>
                        <a:t>, ra</a:t>
                      </a: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dia</a:t>
                      </a:r>
                      <a:r>
                        <a:rPr lang="pt-BR" sz="1800"/>
                        <a:t>l, bom-</a:t>
                      </a: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dia</a:t>
                      </a:r>
                      <a:r>
                        <a:rPr lang="pt-BR" sz="1800"/>
                        <a:t>!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\bdia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dia, diafragma, bom-dia!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dia\b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dia, melodia, bom-dia!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9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\bdia\b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dia, bom-dia!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5" name="Google Shape;345;g1e0b556ae49_0_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dfe15e45dc_0_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</a:t>
            </a:r>
            <a:endParaRPr/>
          </a:p>
        </p:txBody>
      </p:sp>
      <p:sp>
        <p:nvSpPr>
          <p:cNvPr id="352" name="Google Shape;352;g1dfe15e45dc_0_2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pt-BR" sz="2000"/>
              <a:t>Desenvolva um programa para verificar se uma string representa um número de telefone válido. São exemplos de formatos válidos:</a:t>
            </a:r>
            <a:endParaRPr sz="2000"/>
          </a:p>
          <a:p>
            <a:pPr indent="0" lvl="0" marL="899999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1800"/>
              <a:t>(ddd) xxx-xxx-xxx; dddxxxxxxxxx; </a:t>
            </a:r>
            <a:endParaRPr sz="1800"/>
          </a:p>
          <a:p>
            <a:pPr indent="0" lvl="0" marL="899999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1800"/>
              <a:t>ddd x xx xxx xxx; dd xxxxx xxxx;</a:t>
            </a:r>
            <a:endParaRPr sz="18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pt-BR" sz="2000"/>
              <a:t>Defina regras textualmente e depois crie uma expressão regular para validar endereços de email. Para isso considerar: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pt-BR" sz="1800"/>
              <a:t>regras para o nome de usuário;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pt-BR" sz="1800"/>
              <a:t>diferentes domínios.</a:t>
            </a:r>
            <a:endParaRPr sz="18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pt-BR" sz="2000"/>
              <a:t>Desenvolva expressões regulares para validar valores monetários em diferentes moedas. São exemplos válidos: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pt-BR" sz="1800"/>
              <a:t>Real: R$ 3000,00; R$3000,00; R$3.000,00; 3.000,00 reais;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pt-BR" sz="1800"/>
              <a:t>Euro:  € 200,00; €200,00; 200,00EUR;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pt-BR" sz="1800"/>
              <a:t>Dólar: US$100.25; $100.25;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pt-BR" sz="1800"/>
              <a:t>Escudo: 35$50; 0$75;</a:t>
            </a:r>
            <a:endParaRPr b="1" sz="1600"/>
          </a:p>
        </p:txBody>
      </p:sp>
      <p:sp>
        <p:nvSpPr>
          <p:cNvPr id="353" name="Google Shape;353;g1dfe15e45dc_0_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2013-08-31T18:15:04Z</dcterms:created>
  <dc:creator>Leandro</dc:creator>
</cp:coreProperties>
</file>